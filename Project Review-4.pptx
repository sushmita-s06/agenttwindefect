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sldIdLst>
    <p:sldId id="262" r:id="rId3"/>
    <p:sldId id="281" r:id="rId4"/>
    <p:sldId id="274" r:id="rId5"/>
    <p:sldId id="282" r:id="rId6"/>
    <p:sldId id="277" r:id="rId7"/>
    <p:sldId id="278" r:id="rId8"/>
    <p:sldId id="276" r:id="rId9"/>
    <p:sldId id="275" r:id="rId10"/>
    <p:sldId id="279" r:id="rId11"/>
    <p:sldId id="264" r:id="rId12"/>
    <p:sldId id="280" r:id="rId13"/>
    <p:sldId id="285" r:id="rId14"/>
    <p:sldId id="284" r:id="rId15"/>
    <p:sldId id="265" r:id="rId16"/>
    <p:sldId id="268"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061F-9C31-4433-8F76-1B5774B07BEE}"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978-31BF-4265-B4DC-C473041A5AC7}" type="slidenum">
              <a:rPr lang="en-IN" smtClean="0"/>
              <a:t>‹#›</a:t>
            </a:fld>
            <a:endParaRPr lang="en-IN"/>
          </a:p>
        </p:txBody>
      </p:sp>
    </p:spTree>
    <p:extLst>
      <p:ext uri="{BB962C8B-B14F-4D97-AF65-F5344CB8AC3E}">
        <p14:creationId xmlns:p14="http://schemas.microsoft.com/office/powerpoint/2010/main" val="384722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84AE20-9EAE-4BB7-93AC-7EFA05BCA1CF}"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What-If simulation - </a:t>
            </a:r>
            <a:r>
              <a:rPr lang="en-US" sz="1200" dirty="0"/>
              <a:t>Before actually changing something in the real manufacturing process, we virtually change the parameter in the Digital Twin and see what might happen.</a:t>
            </a:r>
          </a:p>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8</a:t>
            </a:fld>
            <a:endParaRPr lang="en-IN"/>
          </a:p>
        </p:txBody>
      </p:sp>
    </p:spTree>
    <p:extLst>
      <p:ext uri="{BB962C8B-B14F-4D97-AF65-F5344CB8AC3E}">
        <p14:creationId xmlns:p14="http://schemas.microsoft.com/office/powerpoint/2010/main" val="1530600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D949978-31BF-4265-B4DC-C473041A5AC7}" type="slidenum">
              <a:rPr lang="en-IN" smtClean="0"/>
              <a:t>10</a:t>
            </a:fld>
            <a:endParaRPr lang="en-IN"/>
          </a:p>
        </p:txBody>
      </p:sp>
    </p:spTree>
    <p:extLst>
      <p:ext uri="{BB962C8B-B14F-4D97-AF65-F5344CB8AC3E}">
        <p14:creationId xmlns:p14="http://schemas.microsoft.com/office/powerpoint/2010/main" val="545689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3F14-8006-A0B9-BB4E-9C4C8E1CC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93BAC-3D37-C050-53CC-6FFFB572F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549AE-66F9-BB7F-1F26-109ECC6C06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535069-C542-F843-3E7E-AD95899E0B4A}"/>
              </a:ext>
            </a:extLst>
          </p:cNvPr>
          <p:cNvSpPr>
            <a:spLocks noGrp="1"/>
          </p:cNvSpPr>
          <p:nvPr>
            <p:ph type="sldNum" sz="quarter" idx="10"/>
          </p:nvPr>
        </p:nvSpPr>
        <p:spPr/>
        <p:txBody>
          <a:bodyPr/>
          <a:lstStyle/>
          <a:p>
            <a:fld id="{AD949978-31BF-4265-B4DC-C473041A5AC7}" type="slidenum">
              <a:rPr lang="en-IN" smtClean="0"/>
              <a:t>11</a:t>
            </a:fld>
            <a:endParaRPr lang="en-IN"/>
          </a:p>
        </p:txBody>
      </p:sp>
    </p:spTree>
    <p:extLst>
      <p:ext uri="{BB962C8B-B14F-4D97-AF65-F5344CB8AC3E}">
        <p14:creationId xmlns:p14="http://schemas.microsoft.com/office/powerpoint/2010/main" val="2412188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2C0A-7DBC-176F-F4EB-8A8719AC1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B484F-DE15-034F-D88F-1E4D3195A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D807C-D9E9-ED3D-E5BC-08FBF2BD53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A365FA-B5C0-956F-05ED-1863538BB3D8}"/>
              </a:ext>
            </a:extLst>
          </p:cNvPr>
          <p:cNvSpPr>
            <a:spLocks noGrp="1"/>
          </p:cNvSpPr>
          <p:nvPr>
            <p:ph type="sldNum" sz="quarter" idx="10"/>
          </p:nvPr>
        </p:nvSpPr>
        <p:spPr/>
        <p:txBody>
          <a:bodyPr/>
          <a:lstStyle/>
          <a:p>
            <a:fld id="{AD949978-31BF-4265-B4DC-C473041A5AC7}" type="slidenum">
              <a:rPr lang="en-IN" smtClean="0"/>
              <a:t>12</a:t>
            </a:fld>
            <a:endParaRPr lang="en-IN"/>
          </a:p>
        </p:txBody>
      </p:sp>
    </p:spTree>
    <p:extLst>
      <p:ext uri="{BB962C8B-B14F-4D97-AF65-F5344CB8AC3E}">
        <p14:creationId xmlns:p14="http://schemas.microsoft.com/office/powerpoint/2010/main" val="2293065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4A43-7E4D-3FAF-E120-8A08F4AB0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43AC6-8FB2-1A42-A312-F1B0D8FD0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4D355-AC39-C346-AEF3-AD07B41ABE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90027B-6D04-411F-BBE9-5B42D0F18EAE}"/>
              </a:ext>
            </a:extLst>
          </p:cNvPr>
          <p:cNvSpPr>
            <a:spLocks noGrp="1"/>
          </p:cNvSpPr>
          <p:nvPr>
            <p:ph type="sldNum" sz="quarter" idx="10"/>
          </p:nvPr>
        </p:nvSpPr>
        <p:spPr/>
        <p:txBody>
          <a:bodyPr/>
          <a:lstStyle/>
          <a:p>
            <a:fld id="{AD949978-31BF-4265-B4DC-C473041A5AC7}" type="slidenum">
              <a:rPr lang="en-IN" smtClean="0"/>
              <a:t>13</a:t>
            </a:fld>
            <a:endParaRPr lang="en-IN"/>
          </a:p>
        </p:txBody>
      </p:sp>
    </p:spTree>
    <p:extLst>
      <p:ext uri="{BB962C8B-B14F-4D97-AF65-F5344CB8AC3E}">
        <p14:creationId xmlns:p14="http://schemas.microsoft.com/office/powerpoint/2010/main" val="1808043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703183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1149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21537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72882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863557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513000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90697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56192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32457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96514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9436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380664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16/j.ifacol.2025.12.403" TargetMode="External"/><Relationship Id="rId2" Type="http://schemas.openxmlformats.org/officeDocument/2006/relationships/hyperlink" Target="https://doi.org/10.3389/frai.2025.1655470" TargetMode="External"/><Relationship Id="rId1" Type="http://schemas.openxmlformats.org/officeDocument/2006/relationships/slideLayout" Target="../slideLayouts/slideLayout7.xml"/><Relationship Id="rId4" Type="http://schemas.openxmlformats.org/officeDocument/2006/relationships/hyperlink" Target="https://doi.org/10.1016/j.rcim.2023.10258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6/j.jmsy.2023.10.010" TargetMode="External"/><Relationship Id="rId2" Type="http://schemas.openxmlformats.org/officeDocument/2006/relationships/hyperlink" Target="https://doi.org/10.1016/j.infsof.2022.107008" TargetMode="External"/><Relationship Id="rId1" Type="http://schemas.openxmlformats.org/officeDocument/2006/relationships/slideLayout" Target="../slideLayouts/slideLayout7.xml"/><Relationship Id="rId6" Type="http://schemas.openxmlformats.org/officeDocument/2006/relationships/hyperlink" Target="https://doi.org/10.1038/s41598-024-63990-0" TargetMode="External"/><Relationship Id="rId5" Type="http://schemas.openxmlformats.org/officeDocument/2006/relationships/hyperlink" Target="https://doi.org/10.12688/digitaltwin.17807.2" TargetMode="External"/><Relationship Id="rId4" Type="http://schemas.openxmlformats.org/officeDocument/2006/relationships/hyperlink" Target="https://doi.org/10.1016/j.aei.2024.102800"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Thursday</a:t>
            </a:r>
            <a:r>
              <a:rPr lang="en-IN" sz="2000" b="1" dirty="0">
                <a:solidFill>
                  <a:srgbClr val="FF0000"/>
                </a:solidFill>
                <a:latin typeface="Times New Roman" panose="02020603050405020304" pitchFamily="18" charset="0"/>
                <a:cs typeface="Times New Roman" panose="02020603050405020304" pitchFamily="18" charset="0"/>
              </a:rPr>
              <a:t>, October </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lang="en-IN" sz="2000" b="1" baseline="30000" dirty="0">
                <a:solidFill>
                  <a:srgbClr val="FF0000"/>
                </a:solidFill>
                <a:latin typeface="Times New Roman" panose="02020603050405020304" pitchFamily="18" charset="0"/>
                <a:cs typeface="Times New Roman" panose="02020603050405020304" pitchFamily="18" charset="0"/>
              </a:rPr>
              <a:t>st</a:t>
            </a:r>
            <a:r>
              <a:rPr kumimoji="0" lang="en-I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K.AMULYA – 2420090132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P.SAHASRA – 2420090128</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S.SUSHMITA – 2420090076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highlight>
                  <a:srgbClr val="FFFF00"/>
                </a:highlight>
                <a:uLnTx/>
                <a:uFillTx/>
                <a:latin typeface="Aptos" panose="02110004020202020204"/>
                <a:ea typeface="+mn-ea"/>
                <a:cs typeface="+mn-cs"/>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AC1C3D7-1A78-437F-8E79-FA9F45001D93}" type="datetime3">
              <a:rPr kumimoji="0" lang="en-US" sz="1200" b="1"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 October 2026</a:t>
            </a:fld>
            <a:endParaRPr kumimoji="0" lang="en-IN" sz="1200" b="1"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AD1135-6E10-4422-AC8B-257B84239C9C}" type="slidenum">
              <a:rPr kumimoji="0" lang="en-IN"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err="1">
                <a:ln>
                  <a:noFill/>
                </a:ln>
                <a:solidFill>
                  <a:srgbClr val="0E2841">
                    <a:lumMod val="10000"/>
                    <a:lumOff val="90000"/>
                  </a:srgbClr>
                </a:solidFill>
                <a:effectLst/>
                <a:uLnTx/>
                <a:uFillTx/>
                <a:latin typeface="Aptos" panose="02110004020202020204"/>
                <a:ea typeface="+mn-ea"/>
                <a:cs typeface="+mn-cs"/>
              </a:rPr>
              <a:t>AgentTwinDefect</a:t>
            </a:r>
            <a:r>
              <a:rPr kumimoji="0" lang="en-IN" sz="2800" b="0" i="0" u="none" strike="noStrike" kern="1200" cap="none" spc="0" normalizeH="0" baseline="0" noProof="0" dirty="0">
                <a:ln>
                  <a:noFill/>
                </a:ln>
                <a:solidFill>
                  <a:srgbClr val="0E2841">
                    <a:lumMod val="10000"/>
                    <a:lumOff val="90000"/>
                  </a:srgbClr>
                </a:solidFill>
                <a:effectLst/>
                <a:uLnTx/>
                <a:uFillTx/>
                <a:latin typeface="Aptos" panose="02110004020202020204"/>
                <a:ea typeface="+mn-ea"/>
                <a:cs typeface="+mn-cs"/>
              </a:rPr>
              <a:t> AI: An Agentic Digital Twin Platform for Real-Time Hidden Defect Prediction in Smart Manufacturing</a:t>
            </a:r>
            <a:endParaRPr kumimoji="0" lang="en-US" sz="3600" b="0" i="0" u="none" strike="noStrike" kern="1200" cap="none" spc="0" normalizeH="0" baseline="0" noProof="0" dirty="0">
              <a:ln>
                <a:noFill/>
              </a:ln>
              <a:solidFill>
                <a:srgbClr val="0E2841">
                  <a:lumMod val="10000"/>
                  <a:lumOff val="90000"/>
                </a:srgbClr>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SOA Project Review-4</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F5CE-E3E1-9472-AC1D-D3742BA8E9FA}"/>
              </a:ext>
            </a:extLst>
          </p:cNvPr>
          <p:cNvSpPr>
            <a:spLocks noGrp="1"/>
          </p:cNvSpPr>
          <p:nvPr>
            <p:ph type="title"/>
          </p:nvPr>
        </p:nvSpPr>
        <p:spPr/>
        <p:txBody>
          <a:bodyPr/>
          <a:lstStyle/>
          <a:p>
            <a:pPr algn="ctr"/>
            <a:r>
              <a:rPr lang="en-IN" b="1" dirty="0">
                <a:ln w="0"/>
                <a:solidFill>
                  <a:srgbClr val="4472C4"/>
                </a:solidFill>
                <a:latin typeface="Times New Roman" panose="02020603050405020304" pitchFamily="18" charset="0"/>
                <a:ea typeface="Cambria"/>
                <a:cs typeface="Times New Roman" panose="02020603050405020304" pitchFamily="18" charset="0"/>
              </a:rPr>
              <a:t>Outline of Research Work</a:t>
            </a:r>
            <a:br>
              <a:rPr lang="en-IN" b="1" dirty="0">
                <a:ln w="0"/>
                <a:solidFill>
                  <a:srgbClr val="4472C4"/>
                </a:solidFill>
                <a:latin typeface="Times New Roman" panose="02020603050405020304" pitchFamily="18" charset="0"/>
                <a:ea typeface="Cambria"/>
                <a:cs typeface="Times New Roman" panose="02020603050405020304" pitchFamily="18" charset="0"/>
              </a:rPr>
            </a:br>
            <a:endParaRPr lang="en-IN" dirty="0"/>
          </a:p>
        </p:txBody>
      </p:sp>
      <p:pic>
        <p:nvPicPr>
          <p:cNvPr id="10" name="Content Placeholder 9">
            <a:extLst>
              <a:ext uri="{FF2B5EF4-FFF2-40B4-BE49-F238E27FC236}">
                <a16:creationId xmlns:a16="http://schemas.microsoft.com/office/drawing/2014/main" id="{1992DEC8-C793-0799-342A-9EDD91AD4F95}"/>
              </a:ext>
            </a:extLst>
          </p:cNvPr>
          <p:cNvPicPr>
            <a:picLocks noGrp="1" noChangeAspect="1"/>
          </p:cNvPicPr>
          <p:nvPr>
            <p:ph idx="1"/>
          </p:nvPr>
        </p:nvPicPr>
        <p:blipFill>
          <a:blip r:embed="rId2"/>
          <a:stretch>
            <a:fillRect/>
          </a:stretch>
        </p:blipFill>
        <p:spPr>
          <a:xfrm>
            <a:off x="839657" y="1825625"/>
            <a:ext cx="10512686" cy="4351338"/>
          </a:xfrm>
          <a:prstGeom prst="rect">
            <a:avLst/>
          </a:prstGeom>
        </p:spPr>
      </p:pic>
      <p:pic>
        <p:nvPicPr>
          <p:cNvPr id="16" name="Picture 15">
            <a:extLst>
              <a:ext uri="{FF2B5EF4-FFF2-40B4-BE49-F238E27FC236}">
                <a16:creationId xmlns:a16="http://schemas.microsoft.com/office/drawing/2014/main" id="{F2B055F1-7F14-1763-A893-50B3DBABA0EE}"/>
              </a:ext>
            </a:extLst>
          </p:cNvPr>
          <p:cNvPicPr>
            <a:picLocks noChangeAspect="1"/>
          </p:cNvPicPr>
          <p:nvPr/>
        </p:nvPicPr>
        <p:blipFill>
          <a:blip r:embed="rId3"/>
          <a:stretch>
            <a:fillRect/>
          </a:stretch>
        </p:blipFill>
        <p:spPr>
          <a:xfrm>
            <a:off x="2706330" y="1547005"/>
            <a:ext cx="7125700" cy="4280546"/>
          </a:xfrm>
          <a:prstGeom prst="rect">
            <a:avLst/>
          </a:prstGeom>
        </p:spPr>
      </p:pic>
    </p:spTree>
    <p:extLst>
      <p:ext uri="{BB962C8B-B14F-4D97-AF65-F5344CB8AC3E}">
        <p14:creationId xmlns:p14="http://schemas.microsoft.com/office/powerpoint/2010/main" val="403565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PROBLEM STATEMENT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p:cNvSpPr/>
          <p:nvPr/>
        </p:nvSpPr>
        <p:spPr>
          <a:xfrm>
            <a:off x="594360" y="969264"/>
            <a:ext cx="10151533"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Modern smart manufacturing systems generate large volumes of heterogeneous, real-time data from sensors, machines, and production processes. Although Digital Twins and Machine Learning can be used for process monitoring and defect prediction, existing approaches often operate as separate systems and primarily focus on detecting anomalies or predicting failures. They provide limited support for identifying the probable root causes of hidden product defects and evaluating corrective actions before applying them to the physical process.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key problem is therefore the absence of an integrated, real-time and intelligent framework that can continuously monitor manufacturing processes, predict emerging defects, reason about their possible causes, simulate alternative corrective actions using a Digital Twin, and recommend an appropriate intervention. </a:t>
            </a:r>
            <a:r>
              <a:rPr lang="en-US" sz="2000" dirty="0" err="1">
                <a:latin typeface="Times New Roman" panose="02020603050405020304" pitchFamily="18" charset="0"/>
                <a:cs typeface="Times New Roman" panose="02020603050405020304" pitchFamily="18" charset="0"/>
              </a:rPr>
              <a:t>AgentTwinDefect</a:t>
            </a:r>
            <a:r>
              <a:rPr lang="en-US" sz="2000" dirty="0">
                <a:latin typeface="Times New Roman" panose="02020603050405020304" pitchFamily="18" charset="0"/>
                <a:cs typeface="Times New Roman" panose="02020603050405020304" pitchFamily="18" charset="0"/>
              </a:rPr>
              <a:t> AI addresses this gap by combining an Agentic AI layer with a Digital Twin and predictive models to establish a closed-loop workflow from process monitoring and defect prediction to diagnosis, what-if simulation, and corrective-action recommendation.</a:t>
            </a:r>
          </a:p>
        </p:txBody>
      </p:sp>
    </p:spTree>
    <p:extLst>
      <p:ext uri="{BB962C8B-B14F-4D97-AF65-F5344CB8AC3E}">
        <p14:creationId xmlns:p14="http://schemas.microsoft.com/office/powerpoint/2010/main" val="3169313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12C7D-A499-67E4-3295-D7DBA33EDC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678467-76D1-EA82-DB0F-99AAF983E12B}"/>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7D0DDD1-BC36-532E-4B59-6981B1530459}"/>
              </a:ext>
            </a:extLst>
          </p:cNvPr>
          <p:cNvSpPr txBox="1"/>
          <p:nvPr/>
        </p:nvSpPr>
        <p:spPr>
          <a:xfrm>
            <a:off x="594360" y="292608"/>
            <a:ext cx="10972800" cy="457200"/>
          </a:xfrm>
          <a:prstGeom prst="rect">
            <a:avLst/>
          </a:prstGeom>
          <a:noFill/>
        </p:spPr>
        <p:txBody>
          <a:bodyPr wrap="square" lIns="36576" tIns="18288" rIns="36576" bIns="18288">
            <a:spAutoFit/>
          </a:bodyPr>
          <a:lstStyle/>
          <a:p>
            <a:pPr algn="l"/>
            <a:r>
              <a:rPr lang="en-US" sz="2700" b="1" dirty="0">
                <a:solidFill>
                  <a:srgbClr val="1F4E79"/>
                </a:solidFill>
                <a:latin typeface="Arial"/>
              </a:rPr>
              <a:t>OBJECTIVES</a:t>
            </a:r>
            <a:endParaRPr sz="2700" b="1" dirty="0">
              <a:solidFill>
                <a:srgbClr val="1F4E79"/>
              </a:solidFill>
              <a:latin typeface="Arial"/>
            </a:endParaRPr>
          </a:p>
        </p:txBody>
      </p:sp>
      <p:sp>
        <p:nvSpPr>
          <p:cNvPr id="5" name="Rectangle 4">
            <a:extLst>
              <a:ext uri="{FF2B5EF4-FFF2-40B4-BE49-F238E27FC236}">
                <a16:creationId xmlns:a16="http://schemas.microsoft.com/office/drawing/2014/main" id="{9EDE3C3E-1F36-AED3-BE18-9A840104BCD3}"/>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2E58B41-8813-09CC-3BB8-B62C507F485B}"/>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3</a:t>
            </a:r>
          </a:p>
        </p:txBody>
      </p:sp>
      <p:pic>
        <p:nvPicPr>
          <p:cNvPr id="37" name="Picture 36">
            <a:extLst>
              <a:ext uri="{FF2B5EF4-FFF2-40B4-BE49-F238E27FC236}">
                <a16:creationId xmlns:a16="http://schemas.microsoft.com/office/drawing/2014/main" id="{8CA19F2D-5A76-71F0-C019-2077BFA4F2AF}"/>
              </a:ext>
            </a:extLst>
          </p:cNvPr>
          <p:cNvPicPr>
            <a:picLocks noChangeAspect="1"/>
          </p:cNvPicPr>
          <p:nvPr/>
        </p:nvPicPr>
        <p:blipFill>
          <a:blip r:embed="rId2"/>
          <a:stretch>
            <a:fillRect/>
          </a:stretch>
        </p:blipFill>
        <p:spPr>
          <a:xfrm>
            <a:off x="10543945" y="100425"/>
            <a:ext cx="1648055" cy="762106"/>
          </a:xfrm>
          <a:prstGeom prst="rect">
            <a:avLst/>
          </a:prstGeom>
        </p:spPr>
      </p:pic>
      <p:sp>
        <p:nvSpPr>
          <p:cNvPr id="20" name="Rectangle 19">
            <a:extLst>
              <a:ext uri="{FF2B5EF4-FFF2-40B4-BE49-F238E27FC236}">
                <a16:creationId xmlns:a16="http://schemas.microsoft.com/office/drawing/2014/main" id="{7A3822BC-54B1-CAB5-413A-5AAEA54EC05F}"/>
              </a:ext>
            </a:extLst>
          </p:cNvPr>
          <p:cNvSpPr/>
          <p:nvPr/>
        </p:nvSpPr>
        <p:spPr>
          <a:xfrm>
            <a:off x="594360" y="969264"/>
            <a:ext cx="10151533" cy="5016758"/>
          </a:xfrm>
          <a:prstGeom prst="rect">
            <a:avLst/>
          </a:prstGeom>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Digital Twin of a manufacturing process for real-time monitoring.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and process sensor/process data such as temperature, vibration, speed and pressure.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 emerging/hidden defects using ML models.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Deploy AI agents for defect analysis and root-cause identification.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Simulate corrective actions using the Digital Twin.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 the best corrective action based on predicted outcomes.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a real-time dashboard for monitoring, alerts and explanations.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48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PAPERS</a:t>
            </a:r>
          </a:p>
        </p:txBody>
      </p:sp>
      <p:graphicFrame>
        <p:nvGraphicFramePr>
          <p:cNvPr id="7" name="Table 6"/>
          <p:cNvGraphicFramePr>
            <a:graphicFrameLocks noGrp="1"/>
          </p:cNvGraphicFramePr>
          <p:nvPr>
            <p:extLst>
              <p:ext uri="{D42A27DB-BD31-4B8C-83A1-F6EECF244321}">
                <p14:modId xmlns:p14="http://schemas.microsoft.com/office/powerpoint/2010/main" val="3525167885"/>
              </p:ext>
            </p:extLst>
          </p:nvPr>
        </p:nvGraphicFramePr>
        <p:xfrm>
          <a:off x="220827" y="941832"/>
          <a:ext cx="11750040" cy="5829300"/>
        </p:xfrm>
        <a:graphic>
          <a:graphicData uri="http://schemas.openxmlformats.org/drawingml/2006/table">
            <a:tbl>
              <a:tblPr firstRow="1" bandRow="1">
                <a:tableStyleId>{5C22544A-7EE6-4342-B048-85BDC9FD1C3A}</a:tableStyleId>
              </a:tblPr>
              <a:tblGrid>
                <a:gridCol w="1176173">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410307">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 </a:t>
                      </a:r>
                      <a:br>
                        <a:rPr lang="en-IN" sz="1600" b="1" dirty="0">
                          <a:solidFill>
                            <a:srgbClr val="FFFFFF"/>
                          </a:solidFill>
                          <a:latin typeface="Times New Roman" panose="02020603050405020304" pitchFamily="18" charset="0"/>
                          <a:cs typeface="Times New Roman" panose="02020603050405020304" pitchFamily="18" charset="0"/>
                        </a:rPr>
                      </a:br>
                      <a:r>
                        <a:rPr lang="en-IN" sz="1600" b="1" dirty="0">
                          <a:solidFill>
                            <a:srgbClr val="FFFFFF"/>
                          </a:solidFill>
                          <a:latin typeface="Times New Roman" panose="02020603050405020304" pitchFamily="18" charset="0"/>
                          <a:cs typeface="Times New Roman" panose="02020603050405020304" pitchFamily="18" charset="0"/>
                        </a:rPr>
                        <a:t>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Methodology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2"/>
                        </a:rPr>
                        <a:t>https://doi.org/10.3389/frai.2025.1655470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Generative and Predictive AI for Digital Twin Systems in Manufacturing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AI-enabled Digital Twin combining </a:t>
                      </a:r>
                      <a:r>
                        <a:rPr sz="1100" b="1" dirty="0">
                          <a:solidFill>
                            <a:srgbClr val="1E1E1E"/>
                          </a:solidFill>
                          <a:latin typeface="Times New Roman" panose="02020603050405020304" pitchFamily="18" charset="0"/>
                          <a:cs typeface="Times New Roman" panose="02020603050405020304" pitchFamily="18" charset="0"/>
                        </a:rPr>
                        <a:t>Generative AI and Predictive AI</a:t>
                      </a:r>
                      <a:r>
                        <a:rPr sz="1100" dirty="0">
                          <a:solidFill>
                            <a:srgbClr val="1E1E1E"/>
                          </a:solidFill>
                          <a:latin typeface="Times New Roman" panose="02020603050405020304" pitchFamily="18" charset="0"/>
                          <a:cs typeface="Times New Roman" panose="02020603050405020304" pitchFamily="18" charset="0"/>
                        </a:rPr>
                        <a:t>; sensor-based defect prediction and virtual testing.</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Agentic AI is not implemented; study is demonstrated in a specific welding context.</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AI + Digital Twin + defect prediction → add agentic reasoning and corrective-action support.</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https://doi.org/10.1016/j.ifacol.2025.12.403</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An Agentic AI-based Architecture for Digital Twins Specialized in Predictive Maintenance</a:t>
                      </a:r>
                    </a:p>
                  </a:txBody>
                  <a:tcPr>
                    <a:solidFill>
                      <a:srgbClr val="E8F0F8"/>
                    </a:solidFill>
                  </a:tcPr>
                </a:tc>
                <a:tc>
                  <a:txBody>
                    <a:bodyPr/>
                    <a:lstStyle/>
                    <a:p>
                      <a:r>
                        <a:rPr sz="1100" b="1" dirty="0">
                          <a:solidFill>
                            <a:srgbClr val="1E1E1E"/>
                          </a:solidFill>
                          <a:latin typeface="Times New Roman" panose="02020603050405020304" pitchFamily="18" charset="0"/>
                          <a:cs typeface="Times New Roman" panose="02020603050405020304" pitchFamily="18" charset="0"/>
                        </a:rPr>
                        <a:t>Semi-autonomous multi-agent architecture </a:t>
                      </a:r>
                      <a:r>
                        <a:rPr sz="1100" dirty="0">
                          <a:solidFill>
                            <a:srgbClr val="1E1E1E"/>
                          </a:solidFill>
                          <a:latin typeface="Times New Roman" panose="02020603050405020304" pitchFamily="18" charset="0"/>
                          <a:cs typeface="Times New Roman" panose="02020603050405020304" pitchFamily="18" charset="0"/>
                        </a:rPr>
                        <a:t>with Predictive Maintenance and Quality Assurance agents integrated with a Digital Twin.</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Mainly addresses predictive maintenance/equipment behaviour; data quality, integration and real-time responsiveness remain challenges.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Multi-agent reasoning + Digital Twin → apply to hidden product-defect diagnosis and corrective actions.</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https://doi.org/10.3390/jmmp9030079</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Transforming Manufacturing Quality Management with Cognitive Twins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Cognitive Twin with ML and real-time manufacturing data for proactive quality management and predictive optimization.</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Prototype/flexible-manufacturing setting; </a:t>
                      </a:r>
                      <a:r>
                        <a:rPr sz="1100" dirty="0" err="1">
                          <a:solidFill>
                            <a:srgbClr val="1E1E1E"/>
                          </a:solidFill>
                          <a:latin typeface="Times New Roman" panose="02020603050405020304" pitchFamily="18" charset="0"/>
                          <a:cs typeface="Times New Roman" panose="02020603050405020304" pitchFamily="18" charset="0"/>
                        </a:rPr>
                        <a:t>generalisation</a:t>
                      </a:r>
                      <a:r>
                        <a:rPr sz="1100" dirty="0">
                          <a:solidFill>
                            <a:srgbClr val="1E1E1E"/>
                          </a:solidFill>
                          <a:latin typeface="Times New Roman" panose="02020603050405020304" pitchFamily="18" charset="0"/>
                          <a:cs typeface="Times New Roman" panose="02020603050405020304" pitchFamily="18" charset="0"/>
                        </a:rPr>
                        <a:t>, infrastructure, cybersecurity and integration remain concerns.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Real-time quality monitoring + prediction → extend with agentic reasoning and what-if action selection.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https://doi.org/10.1038/s41598-026-58348-7</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Twin-driven Multiscale Modelling for Real-Time Defect Prediction in Metal Additive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Digital Twin + physics-informed neural networks + CNN-LSTM + IoT/edge/fog/cloud for real-time defect prediction.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Domain-specific to metal additive manufacturing; computationally complex and primarily prediction-focused.</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Real-time DT defect prediction → add diagnosis, simulation and recommendation.</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4"/>
                        </a:rPr>
                        <a:t>https://doi.org/10.1016/j.rcim.2023.102581</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Fusion-based Digital Twin for Localized Quality Prediction in Robotic L-DED</a:t>
                      </a:r>
                    </a:p>
                  </a:txBody>
                  <a:tcPr>
                    <a:solidFill>
                      <a:srgbClr val="F8F9FB"/>
                    </a:solidFill>
                  </a:tcPr>
                </a:tc>
                <a:tc>
                  <a:txBody>
                    <a:bodyPr/>
                    <a:lstStyle/>
                    <a:p>
                      <a:r>
                        <a:rPr sz="1100" dirty="0" err="1">
                          <a:solidFill>
                            <a:srgbClr val="1E1E1E"/>
                          </a:solidFill>
                          <a:latin typeface="Times New Roman" panose="02020603050405020304" pitchFamily="18" charset="0"/>
                          <a:cs typeface="Times New Roman" panose="02020603050405020304" pitchFamily="18" charset="0"/>
                        </a:rPr>
                        <a:t>Multisensor</a:t>
                      </a:r>
                      <a:r>
                        <a:rPr sz="1100" dirty="0">
                          <a:solidFill>
                            <a:srgbClr val="1E1E1E"/>
                          </a:solidFill>
                          <a:latin typeface="Times New Roman" panose="02020603050405020304" pitchFamily="18" charset="0"/>
                          <a:cs typeface="Times New Roman" panose="02020603050405020304" pitchFamily="18" charset="0"/>
                        </a:rPr>
                        <a:t> fusion using vision, microphone and thermal-camera data with a Digital Twin for localized quality prediction.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Specific to robotic laser-directed energy deposition; no autonomous corrective-action reasoning.</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Multimodal sensing + DT quality prediction → use richer process-state features.</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5487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40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972800" cy="457200"/>
          </a:xfrm>
          <a:prstGeom prst="rect">
            <a:avLst/>
          </a:prstGeom>
          <a:noFill/>
        </p:spPr>
        <p:txBody>
          <a:bodyPr wrap="square" lIns="27432" tIns="18288" rIns="27432" bIns="18288">
            <a:spAutoFit/>
          </a:bodyPr>
          <a:lstStyle/>
          <a:p>
            <a:pPr algn="l"/>
            <a:r>
              <a:rPr sz="2700" b="1" dirty="0">
                <a:solidFill>
                  <a:srgbClr val="1F4E79"/>
                </a:solidFill>
                <a:latin typeface="Arial"/>
              </a:rPr>
              <a:t>LITERATURE SURVEY – PAPERS </a:t>
            </a:r>
          </a:p>
        </p:txBody>
      </p:sp>
      <p:sp>
        <p:nvSpPr>
          <p:cNvPr id="6" name="TextBox 5"/>
          <p:cNvSpPr txBox="1"/>
          <p:nvPr/>
        </p:nvSpPr>
        <p:spPr>
          <a:xfrm>
            <a:off x="10972800" y="6428232"/>
            <a:ext cx="457200" cy="182880"/>
          </a:xfrm>
          <a:prstGeom prst="rect">
            <a:avLst/>
          </a:prstGeom>
          <a:noFill/>
        </p:spPr>
        <p:txBody>
          <a:bodyPr wrap="square" lIns="27432" tIns="18288" rIns="27432" bIns="18288">
            <a:spAutoFit/>
          </a:bodyPr>
          <a:lstStyle/>
          <a:p>
            <a:pPr algn="r"/>
            <a:r>
              <a:rPr sz="900" b="0">
                <a:solidFill>
                  <a:srgbClr val="646464"/>
                </a:solidFill>
                <a:latin typeface="Arial"/>
              </a:rPr>
              <a:t>2</a:t>
            </a:r>
          </a:p>
        </p:txBody>
      </p:sp>
      <p:graphicFrame>
        <p:nvGraphicFramePr>
          <p:cNvPr id="7" name="Table 6"/>
          <p:cNvGraphicFramePr>
            <a:graphicFrameLocks noGrp="1"/>
          </p:cNvGraphicFramePr>
          <p:nvPr>
            <p:extLst>
              <p:ext uri="{D42A27DB-BD31-4B8C-83A1-F6EECF244321}">
                <p14:modId xmlns:p14="http://schemas.microsoft.com/office/powerpoint/2010/main" val="505763016"/>
              </p:ext>
            </p:extLst>
          </p:nvPr>
        </p:nvGraphicFramePr>
        <p:xfrm>
          <a:off x="205740" y="941832"/>
          <a:ext cx="11750040" cy="549402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1659466">
                  <a:extLst>
                    <a:ext uri="{9D8B030D-6E8A-4147-A177-3AD203B41FA5}">
                      <a16:colId xmlns:a16="http://schemas.microsoft.com/office/drawing/2014/main" val="20001"/>
                    </a:ext>
                  </a:extLst>
                </a:gridCol>
                <a:gridCol w="2387600">
                  <a:extLst>
                    <a:ext uri="{9D8B030D-6E8A-4147-A177-3AD203B41FA5}">
                      <a16:colId xmlns:a16="http://schemas.microsoft.com/office/drawing/2014/main" val="20002"/>
                    </a:ext>
                  </a:extLst>
                </a:gridCol>
                <a:gridCol w="3031067">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845820">
                <a:tc>
                  <a:txBody>
                    <a:bodyPr/>
                    <a:lstStyle/>
                    <a:p>
                      <a:r>
                        <a:rPr lang="en-IN" sz="1600" b="1" dirty="0">
                          <a:solidFill>
                            <a:srgbClr val="FFFFFF"/>
                          </a:solidFill>
                          <a:latin typeface="Times New Roman" panose="02020603050405020304" pitchFamily="18" charset="0"/>
                          <a:cs typeface="Times New Roman" panose="02020603050405020304" pitchFamily="18" charset="0"/>
                        </a:rPr>
                        <a:t>Paper</a:t>
                      </a:r>
                      <a:r>
                        <a:rPr lang="en-IN" sz="1600" b="1" baseline="0" dirty="0">
                          <a:solidFill>
                            <a:srgbClr val="FFFFFF"/>
                          </a:solidFill>
                          <a:latin typeface="Times New Roman" panose="02020603050405020304" pitchFamily="18" charset="0"/>
                          <a:cs typeface="Times New Roman" panose="02020603050405020304" pitchFamily="18" charset="0"/>
                        </a:rPr>
                        <a:t> Link</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a:solidFill>
                            <a:srgbClr val="FFFFFF"/>
                          </a:solidFill>
                          <a:latin typeface="Times New Roman" panose="02020603050405020304" pitchFamily="18" charset="0"/>
                          <a:cs typeface="Times New Roman" panose="02020603050405020304" pitchFamily="18" charset="0"/>
                        </a:rPr>
                        <a:t>Paper</a:t>
                      </a:r>
                    </a:p>
                  </a:txBody>
                  <a:tcPr>
                    <a:solidFill>
                      <a:srgbClr val="1F4E79"/>
                    </a:solidFill>
                  </a:tcPr>
                </a:tc>
                <a:tc>
                  <a:txBody>
                    <a:bodyPr/>
                    <a:lstStyle/>
                    <a:p>
                      <a:r>
                        <a:rPr sz="1600" b="1" dirty="0" err="1">
                          <a:solidFill>
                            <a:srgbClr val="FFFFFF"/>
                          </a:solidFill>
                          <a:latin typeface="Times New Roman" panose="02020603050405020304" pitchFamily="18" charset="0"/>
                          <a:cs typeface="Times New Roman" panose="02020603050405020304" pitchFamily="18" charset="0"/>
                        </a:rPr>
                        <a:t>Methodolog</a:t>
                      </a:r>
                      <a:r>
                        <a:rPr lang="en-IN" sz="1600" b="1" dirty="0">
                          <a:solidFill>
                            <a:srgbClr val="FFFFFF"/>
                          </a:solidFill>
                          <a:latin typeface="Times New Roman" panose="02020603050405020304" pitchFamily="18" charset="0"/>
                          <a:cs typeface="Times New Roman" panose="02020603050405020304" pitchFamily="18" charset="0"/>
                        </a:rPr>
                        <a:t>y</a:t>
                      </a:r>
                      <a:endParaRPr sz="1600" b="1" dirty="0">
                        <a:solidFill>
                          <a:srgbClr val="FFFFFF"/>
                        </a:solidFill>
                        <a:latin typeface="Times New Roman" panose="02020603050405020304" pitchFamily="18" charset="0"/>
                        <a:cs typeface="Times New Roman" panose="02020603050405020304" pitchFamily="18" charset="0"/>
                      </a:endParaRP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Drawback </a:t>
                      </a:r>
                    </a:p>
                  </a:txBody>
                  <a:tcPr>
                    <a:solidFill>
                      <a:srgbClr val="1F4E79"/>
                    </a:solidFill>
                  </a:tcPr>
                </a:tc>
                <a:tc>
                  <a:txBody>
                    <a:bodyPr/>
                    <a:lstStyle/>
                    <a:p>
                      <a:r>
                        <a:rPr sz="1600" b="1" dirty="0">
                          <a:solidFill>
                            <a:srgbClr val="FFFFFF"/>
                          </a:solidFill>
                          <a:latin typeface="Times New Roman" panose="02020603050405020304" pitchFamily="18" charset="0"/>
                          <a:cs typeface="Times New Roman" panose="02020603050405020304" pitchFamily="18" charset="0"/>
                        </a:rPr>
                        <a:t>Relevance to Our Project</a:t>
                      </a:r>
                    </a:p>
                  </a:txBody>
                  <a:tcPr>
                    <a:solidFill>
                      <a:srgbClr val="1F4E79"/>
                    </a:solidFill>
                  </a:tcPr>
                </a:tc>
                <a:extLst>
                  <a:ext uri="{0D108BD9-81ED-4DB2-BD59-A6C34878D82A}">
                    <a16:rowId xmlns:a16="http://schemas.microsoft.com/office/drawing/2014/main" val="10000"/>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2"/>
                        </a:rPr>
                        <a:t>https://doi.org/10.1016/j.infsof.2022.107008</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Predictive Maintenance Using Digital Twins: A Systematic Literature Review</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Systematic review of D</a:t>
                      </a:r>
                      <a:r>
                        <a:rPr lang="en-IN" sz="1100" dirty="0">
                          <a:solidFill>
                            <a:srgbClr val="1E1E1E"/>
                          </a:solidFill>
                          <a:latin typeface="Times New Roman" panose="02020603050405020304" pitchFamily="18" charset="0"/>
                          <a:cs typeface="Times New Roman" panose="02020603050405020304" pitchFamily="18" charset="0"/>
                        </a:rPr>
                        <a:t>igital</a:t>
                      </a:r>
                      <a:r>
                        <a:rPr sz="1100" dirty="0">
                          <a:solidFill>
                            <a:srgbClr val="1E1E1E"/>
                          </a:solidFill>
                          <a:latin typeface="Times New Roman" panose="02020603050405020304" pitchFamily="18" charset="0"/>
                          <a:cs typeface="Times New Roman" panose="02020603050405020304" pitchFamily="18" charset="0"/>
                        </a:rPr>
                        <a:t>T</a:t>
                      </a:r>
                      <a:r>
                        <a:rPr lang="en-IN" sz="1100" dirty="0">
                          <a:solidFill>
                            <a:srgbClr val="1E1E1E"/>
                          </a:solidFill>
                          <a:latin typeface="Times New Roman" panose="02020603050405020304" pitchFamily="18" charset="0"/>
                          <a:cs typeface="Times New Roman" panose="02020603050405020304" pitchFamily="18" charset="0"/>
                        </a:rPr>
                        <a:t>win</a:t>
                      </a:r>
                      <a:r>
                        <a:rPr sz="1100" dirty="0">
                          <a:solidFill>
                            <a:srgbClr val="1E1E1E"/>
                          </a:solidFill>
                          <a:latin typeface="Times New Roman" panose="02020603050405020304" pitchFamily="18" charset="0"/>
                          <a:cs typeface="Times New Roman" panose="02020603050405020304" pitchFamily="18" charset="0"/>
                        </a:rPr>
                        <a:t>-enabled predictive maintenance studies, architectures, ML approaches and communication protocols.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Maintenance-focused rather than product-defect management; highlights data variety, computational and model/asset complexity.</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DT architecture challenges and design considerations → inform system integration and scalability.</a:t>
                      </a:r>
                    </a:p>
                  </a:txBody>
                  <a:tcPr>
                    <a:solidFill>
                      <a:srgbClr val="F8F9FB"/>
                    </a:solidFill>
                  </a:tcPr>
                </a:tc>
                <a:extLst>
                  <a:ext uri="{0D108BD9-81ED-4DB2-BD59-A6C34878D82A}">
                    <a16:rowId xmlns:a16="http://schemas.microsoft.com/office/drawing/2014/main" val="10001"/>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3"/>
                        </a:rPr>
                        <a:t>https://doi.org/10.1016/j.jmsy.2023.10.010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The Advance of Digital Twin for Predictive Maintenance: The Role and Function of Machine Learning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Review of ML roles in DT-based predictive maintenance and framework for ML-enabled DT-PdM.</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Primarily equipment health/maintenance; limited focus on hidden product defects and corrective-action simulation.</a:t>
                      </a: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Separate DT and predictive-ML roles → integrate them with an agentic decision layer.</a:t>
                      </a:r>
                    </a:p>
                  </a:txBody>
                  <a:tcPr>
                    <a:solidFill>
                      <a:srgbClr val="E8F0F8"/>
                    </a:solidFill>
                  </a:tcPr>
                </a:tc>
                <a:extLst>
                  <a:ext uri="{0D108BD9-81ED-4DB2-BD59-A6C34878D82A}">
                    <a16:rowId xmlns:a16="http://schemas.microsoft.com/office/drawing/2014/main" val="10002"/>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4"/>
                        </a:rPr>
                        <a:t>https://doi.org/10.1016/j.aei.2024.102800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 Requirement-Based Roadmap for Standardized Predictive Maintenance Automation Using Digital Twin Technologies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Requirement-based roadmap using informational and functional requirements for DT-based predictive-maintenance automation.</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Roadmap/review rather than a complete executable closed-loop defect system.</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Functional requirements + system integration → define the executable architecture before implementation.</a:t>
                      </a:r>
                    </a:p>
                  </a:txBody>
                  <a:tcPr>
                    <a:solidFill>
                      <a:srgbClr val="F8F9FB"/>
                    </a:solidFill>
                  </a:tcPr>
                </a:tc>
                <a:extLst>
                  <a:ext uri="{0D108BD9-81ED-4DB2-BD59-A6C34878D82A}">
                    <a16:rowId xmlns:a16="http://schemas.microsoft.com/office/drawing/2014/main" val="10003"/>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solidFill>
                            <a:srgbClr val="1E1E1E"/>
                          </a:solidFill>
                          <a:latin typeface="Times New Roman" panose="02020603050405020304" pitchFamily="18" charset="0"/>
                          <a:cs typeface="Times New Roman" panose="02020603050405020304" pitchFamily="18" charset="0"/>
                          <a:hlinkClick r:id="rId5"/>
                        </a:rPr>
                        <a:t>https://doi.org/10.12688/digitaltwin.17807.2</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E8F0F8"/>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Digital Twins Along the Product Lifecycle: A Systematic Literature Review of Applications in Manufacturing</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review mapping Digital Twin applications across the manufacturing product lifecycle.</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Many applications remain early-stage/prototype-oriented; lifecycle coverage and maturity vary across studies.</a:t>
                      </a:r>
                    </a:p>
                  </a:txBody>
                  <a:tcPr>
                    <a:solidFill>
                      <a:srgbClr val="E8F0F8"/>
                    </a:solidFill>
                  </a:tcPr>
                </a:tc>
                <a:tc>
                  <a:txBody>
                    <a:bodyPr/>
                    <a:lstStyle/>
                    <a:p>
                      <a:r>
                        <a:rPr sz="1100">
                          <a:solidFill>
                            <a:srgbClr val="1E1E1E"/>
                          </a:solidFill>
                          <a:latin typeface="Times New Roman" panose="02020603050405020304" pitchFamily="18" charset="0"/>
                          <a:cs typeface="Times New Roman" panose="02020603050405020304" pitchFamily="18" charset="0"/>
                        </a:rPr>
                        <a:t>Supports an extensible, integrated DT architecture rather than a single-purpose model.</a:t>
                      </a:r>
                    </a:p>
                  </a:txBody>
                  <a:tcPr>
                    <a:solidFill>
                      <a:srgbClr val="E8F0F8"/>
                    </a:solidFill>
                  </a:tcPr>
                </a:tc>
                <a:extLst>
                  <a:ext uri="{0D108BD9-81ED-4DB2-BD59-A6C34878D82A}">
                    <a16:rowId xmlns:a16="http://schemas.microsoft.com/office/drawing/2014/main" val="10004"/>
                  </a:ext>
                </a:extLst>
              </a:tr>
              <a:tr h="84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hlinkClick r:id="rId6"/>
                        </a:rPr>
                        <a:t>https://doi.org/10.1038/s41598-024-63990-0</a:t>
                      </a:r>
                      <a:endParaRPr lang="en-IN" sz="1200" dirty="0">
                        <a:solidFill>
                          <a:srgbClr val="1E1E1E"/>
                        </a:solidFill>
                        <a:latin typeface="Times New Roman" panose="02020603050405020304" pitchFamily="18" charset="0"/>
                        <a:cs typeface="Times New Roman" panose="02020603050405020304" pitchFamily="18" charset="0"/>
                      </a:endParaRPr>
                    </a:p>
                    <a:p>
                      <a:endParaRPr sz="1100" dirty="0">
                        <a:solidFill>
                          <a:srgbClr val="1E1E1E"/>
                        </a:solidFill>
                        <a:latin typeface="Times New Roman" panose="02020603050405020304" pitchFamily="18" charset="0"/>
                        <a:cs typeface="Times New Roman" panose="02020603050405020304" pitchFamily="18" charset="0"/>
                      </a:endParaRP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 Digital Twin-Driven Prognostics and Health Management for Industrial Assets</a:t>
                      </a:r>
                    </a:p>
                  </a:txBody>
                  <a:tcPr>
                    <a:solidFill>
                      <a:srgbClr val="F8F9FB"/>
                    </a:solidFill>
                  </a:tcPr>
                </a:tc>
                <a:tc>
                  <a:txBody>
                    <a:bodyPr/>
                    <a:lstStyle/>
                    <a:p>
                      <a:r>
                        <a:rPr sz="1100">
                          <a:solidFill>
                            <a:srgbClr val="1E1E1E"/>
                          </a:solidFill>
                          <a:latin typeface="Times New Roman" panose="02020603050405020304" pitchFamily="18" charset="0"/>
                          <a:cs typeface="Times New Roman" panose="02020603050405020304" pitchFamily="18" charset="0"/>
                        </a:rPr>
                        <a:t>Systematic analysis of DT-driven prognostics and health management across application, theory and implementation layers.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Asset-health focus; real-time perception, feedback and integration with intelligent decision systems remain challenges.</a:t>
                      </a:r>
                    </a:p>
                  </a:txBody>
                  <a:tcPr>
                    <a:solidFill>
                      <a:srgbClr val="F8F9FB"/>
                    </a:solidFill>
                  </a:tcPr>
                </a:tc>
                <a:tc>
                  <a:txBody>
                    <a:bodyPr/>
                    <a:lstStyle/>
                    <a:p>
                      <a:r>
                        <a:rPr sz="1100" dirty="0">
                          <a:solidFill>
                            <a:srgbClr val="1E1E1E"/>
                          </a:solidFill>
                          <a:latin typeface="Times New Roman" panose="02020603050405020304" pitchFamily="18" charset="0"/>
                          <a:cs typeface="Times New Roman" panose="02020603050405020304" pitchFamily="18" charset="0"/>
                        </a:rPr>
                        <a:t>Data → virtual model → decision-support structure → extend toward closed-loop quality intelligence.</a:t>
                      </a:r>
                    </a:p>
                  </a:txBody>
                  <a:tcPr>
                    <a:solidFill>
                      <a:srgbClr val="F8F9F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9989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RELEVANCE</a:t>
            </a:r>
            <a:r>
              <a:rPr lang="en-IN" sz="2700" b="1" dirty="0">
                <a:solidFill>
                  <a:srgbClr val="1F4E79"/>
                </a:solidFill>
                <a:latin typeface="Arial"/>
              </a:rPr>
              <a:t> TO PROJECT TITLE</a:t>
            </a:r>
            <a:endParaRPr sz="2700" b="1" dirty="0">
              <a:solidFill>
                <a:srgbClr val="1F4E79"/>
              </a:solidFill>
              <a:latin typeface="Arial"/>
            </a:endParaRPr>
          </a:p>
        </p:txBody>
      </p:sp>
      <p:sp>
        <p:nvSpPr>
          <p:cNvPr id="4" name="TextBox 3"/>
          <p:cNvSpPr txBox="1"/>
          <p:nvPr/>
        </p:nvSpPr>
        <p:spPr>
          <a:xfrm>
            <a:off x="608348" y="698183"/>
            <a:ext cx="10698480" cy="252377"/>
          </a:xfrm>
          <a:prstGeom prst="rect">
            <a:avLst/>
          </a:prstGeom>
          <a:noFill/>
        </p:spPr>
        <p:txBody>
          <a:bodyPr wrap="square" lIns="36576" tIns="18288" rIns="36576" bIns="18288">
            <a:spAutoFit/>
          </a:bodyPr>
          <a:lstStyle/>
          <a:p>
            <a:pPr algn="l"/>
            <a:r>
              <a:rPr sz="1200" b="0" dirty="0">
                <a:latin typeface="Arial"/>
              </a:rPr>
              <a:t>Why </a:t>
            </a:r>
            <a:r>
              <a:rPr sz="1400" b="1" dirty="0" err="1">
                <a:latin typeface="Arial"/>
              </a:rPr>
              <a:t>AgentTwinDefect</a:t>
            </a:r>
            <a:r>
              <a:rPr sz="1400" b="1" dirty="0">
                <a:latin typeface="Arial"/>
              </a:rPr>
              <a:t> AI </a:t>
            </a:r>
            <a:r>
              <a:rPr sz="1200" b="0" dirty="0">
                <a:latin typeface="Arial"/>
              </a:rPr>
              <a:t>is aligned with </a:t>
            </a:r>
            <a:r>
              <a:rPr lang="en-IN" sz="1200" dirty="0">
                <a:latin typeface="Arial"/>
              </a:rPr>
              <a:t>OUR</a:t>
            </a:r>
            <a:r>
              <a:rPr sz="1200" b="0" dirty="0">
                <a:latin typeface="Arial"/>
              </a:rPr>
              <a:t> </a:t>
            </a:r>
            <a:r>
              <a:rPr lang="en-IN" sz="1200" b="0" dirty="0">
                <a:latin typeface="Arial"/>
              </a:rPr>
              <a:t>PROJECT</a:t>
            </a:r>
            <a:r>
              <a:rPr sz="1200" b="0" dirty="0">
                <a:latin typeface="Arial"/>
              </a:rPr>
              <a:t> </a:t>
            </a:r>
            <a:r>
              <a:rPr lang="en-IN" sz="1200" b="0" dirty="0">
                <a:latin typeface="Arial"/>
              </a:rPr>
              <a:t>TITLE</a:t>
            </a:r>
            <a:endParaRPr sz="1200" b="0" dirty="0">
              <a:latin typeface="Arial"/>
            </a:endParaRPr>
          </a:p>
        </p:txBody>
      </p:sp>
      <p:sp>
        <p:nvSpPr>
          <p:cNvPr id="7" name="TextBox 6"/>
          <p:cNvSpPr txBox="1"/>
          <p:nvPr/>
        </p:nvSpPr>
        <p:spPr>
          <a:xfrm>
            <a:off x="11091672" y="6647688"/>
            <a:ext cx="457200" cy="201168"/>
          </a:xfrm>
          <a:prstGeom prst="rect">
            <a:avLst/>
          </a:prstGeom>
          <a:noFill/>
        </p:spPr>
        <p:txBody>
          <a:bodyPr wrap="none">
            <a:spAutoFit/>
          </a:bodyPr>
          <a:lstStyle/>
          <a:p>
            <a:pPr algn="r"/>
            <a:r>
              <a:rPr sz="900">
                <a:solidFill>
                  <a:srgbClr val="646464"/>
                </a:solidFill>
                <a:latin typeface="Arial"/>
              </a:rPr>
              <a:t>3</a:t>
            </a:r>
          </a:p>
        </p:txBody>
      </p:sp>
      <p:sp>
        <p:nvSpPr>
          <p:cNvPr id="21" name="Rounded Rectangle 20"/>
          <p:cNvSpPr/>
          <p:nvPr/>
        </p:nvSpPr>
        <p:spPr>
          <a:xfrm>
            <a:off x="620438" y="5520278"/>
            <a:ext cx="2340864" cy="1229867"/>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740" y="5608580"/>
            <a:ext cx="2088253" cy="236988"/>
          </a:xfrm>
          <a:prstGeom prst="rect">
            <a:avLst/>
          </a:prstGeom>
          <a:noFill/>
        </p:spPr>
        <p:txBody>
          <a:bodyPr wrap="square" lIns="36576" tIns="18288" rIns="36576" bIns="18288">
            <a:spAutoFit/>
          </a:bodyPr>
          <a:lstStyle/>
          <a:p>
            <a:pPr algn="l"/>
            <a:r>
              <a:rPr sz="1300" b="1" dirty="0">
                <a:solidFill>
                  <a:srgbClr val="705091"/>
                </a:solidFill>
                <a:latin typeface="Arial"/>
              </a:rPr>
              <a:t>Agentic</a:t>
            </a:r>
          </a:p>
        </p:txBody>
      </p:sp>
      <p:sp>
        <p:nvSpPr>
          <p:cNvPr id="24" name="TextBox 23"/>
          <p:cNvSpPr txBox="1"/>
          <p:nvPr/>
        </p:nvSpPr>
        <p:spPr>
          <a:xfrm>
            <a:off x="722444" y="5986041"/>
            <a:ext cx="2088253" cy="366254"/>
          </a:xfrm>
          <a:prstGeom prst="rect">
            <a:avLst/>
          </a:prstGeom>
          <a:noFill/>
        </p:spPr>
        <p:txBody>
          <a:bodyPr wrap="square" lIns="36576" tIns="18288" rIns="36576" bIns="18288">
            <a:spAutoFit/>
          </a:bodyPr>
          <a:lstStyle/>
          <a:p>
            <a:pPr algn="l"/>
            <a:r>
              <a:rPr sz="1070" b="0" dirty="0">
                <a:solidFill>
                  <a:srgbClr val="1E1E1E"/>
                </a:solidFill>
                <a:latin typeface="Arial"/>
              </a:rPr>
              <a:t>Autonomous reasoning + task-specific agents</a:t>
            </a:r>
          </a:p>
        </p:txBody>
      </p:sp>
      <p:sp>
        <p:nvSpPr>
          <p:cNvPr id="25" name="Rounded Rectangle 24"/>
          <p:cNvSpPr/>
          <p:nvPr/>
        </p:nvSpPr>
        <p:spPr>
          <a:xfrm>
            <a:off x="3331803" y="5472271"/>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83695" y="5609352"/>
            <a:ext cx="2267712" cy="274320"/>
          </a:xfrm>
          <a:prstGeom prst="rect">
            <a:avLst/>
          </a:prstGeom>
          <a:noFill/>
        </p:spPr>
        <p:txBody>
          <a:bodyPr wrap="square" lIns="36576" tIns="18288" rIns="36576" bIns="18288">
            <a:spAutoFit/>
          </a:bodyPr>
          <a:lstStyle/>
          <a:p>
            <a:pPr algn="l"/>
            <a:r>
              <a:rPr sz="1300" b="1" dirty="0">
                <a:solidFill>
                  <a:srgbClr val="2E75B5"/>
                </a:solidFill>
                <a:latin typeface="Arial"/>
              </a:rPr>
              <a:t>Digital Twin</a:t>
            </a:r>
          </a:p>
        </p:txBody>
      </p:sp>
      <p:sp>
        <p:nvSpPr>
          <p:cNvPr id="28" name="TextBox 27"/>
          <p:cNvSpPr txBox="1"/>
          <p:nvPr/>
        </p:nvSpPr>
        <p:spPr>
          <a:xfrm>
            <a:off x="3483695" y="5955963"/>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Virtual process state + what-if simulation</a:t>
            </a:r>
          </a:p>
        </p:txBody>
      </p:sp>
      <p:sp>
        <p:nvSpPr>
          <p:cNvPr id="29" name="Rounded Rectangle 28"/>
          <p:cNvSpPr/>
          <p:nvPr/>
        </p:nvSpPr>
        <p:spPr>
          <a:xfrm>
            <a:off x="6204119" y="5461774"/>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8110" y="5576722"/>
            <a:ext cx="2267712" cy="274320"/>
          </a:xfrm>
          <a:prstGeom prst="rect">
            <a:avLst/>
          </a:prstGeom>
          <a:noFill/>
        </p:spPr>
        <p:txBody>
          <a:bodyPr wrap="square" lIns="36576" tIns="18288" rIns="36576" bIns="18288">
            <a:spAutoFit/>
          </a:bodyPr>
          <a:lstStyle/>
          <a:p>
            <a:pPr algn="l"/>
            <a:r>
              <a:rPr sz="1300" b="1">
                <a:solidFill>
                  <a:srgbClr val="C00000"/>
                </a:solidFill>
                <a:latin typeface="Arial"/>
              </a:rPr>
              <a:t>Defect</a:t>
            </a:r>
          </a:p>
        </p:txBody>
      </p:sp>
      <p:sp>
        <p:nvSpPr>
          <p:cNvPr id="32" name="TextBox 31"/>
          <p:cNvSpPr txBox="1"/>
          <p:nvPr/>
        </p:nvSpPr>
        <p:spPr>
          <a:xfrm>
            <a:off x="6408928" y="5940815"/>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Emerging / hidden product-quality anomaly</a:t>
            </a:r>
          </a:p>
        </p:txBody>
      </p:sp>
      <p:sp>
        <p:nvSpPr>
          <p:cNvPr id="33" name="Rounded Rectangle 32"/>
          <p:cNvSpPr/>
          <p:nvPr/>
        </p:nvSpPr>
        <p:spPr>
          <a:xfrm>
            <a:off x="9076435" y="5439168"/>
            <a:ext cx="2542032" cy="1325880"/>
          </a:xfrm>
          <a:prstGeom prst="roundRect">
            <a:avLst/>
          </a:prstGeom>
          <a:solidFill>
            <a:srgbClr val="F8F9FB"/>
          </a:solidFill>
          <a:ln w="12700">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41027" y="5566177"/>
            <a:ext cx="2267712" cy="274320"/>
          </a:xfrm>
          <a:prstGeom prst="rect">
            <a:avLst/>
          </a:prstGeom>
          <a:noFill/>
        </p:spPr>
        <p:txBody>
          <a:bodyPr wrap="square" lIns="36576" tIns="18288" rIns="36576" bIns="18288">
            <a:spAutoFit/>
          </a:bodyPr>
          <a:lstStyle/>
          <a:p>
            <a:pPr algn="l"/>
            <a:r>
              <a:rPr sz="1300" b="1">
                <a:solidFill>
                  <a:srgbClr val="468264"/>
                </a:solidFill>
                <a:latin typeface="Arial"/>
              </a:rPr>
              <a:t>AI</a:t>
            </a:r>
          </a:p>
        </p:txBody>
      </p:sp>
      <p:sp>
        <p:nvSpPr>
          <p:cNvPr id="36" name="TextBox 35"/>
          <p:cNvSpPr txBox="1"/>
          <p:nvPr/>
        </p:nvSpPr>
        <p:spPr>
          <a:xfrm>
            <a:off x="9241027" y="5916576"/>
            <a:ext cx="2267712" cy="822959"/>
          </a:xfrm>
          <a:prstGeom prst="rect">
            <a:avLst/>
          </a:prstGeom>
          <a:noFill/>
        </p:spPr>
        <p:txBody>
          <a:bodyPr wrap="square" lIns="36576" tIns="18288" rIns="36576" bIns="18288">
            <a:spAutoFit/>
          </a:bodyPr>
          <a:lstStyle/>
          <a:p>
            <a:pPr algn="l"/>
            <a:r>
              <a:rPr sz="1070" b="0" dirty="0">
                <a:solidFill>
                  <a:srgbClr val="1E1E1E"/>
                </a:solidFill>
                <a:latin typeface="Arial"/>
              </a:rPr>
              <a:t>Prediction + diagnosis + decision support</a:t>
            </a:r>
          </a:p>
        </p:txBody>
      </p:sp>
      <p:pic>
        <p:nvPicPr>
          <p:cNvPr id="37" name="Picture 36"/>
          <p:cNvPicPr>
            <a:picLocks noChangeAspect="1"/>
          </p:cNvPicPr>
          <p:nvPr/>
        </p:nvPicPr>
        <p:blipFill>
          <a:blip r:embed="rId2"/>
          <a:stretch>
            <a:fillRect/>
          </a:stretch>
        </p:blipFill>
        <p:spPr>
          <a:xfrm>
            <a:off x="10543945" y="100425"/>
            <a:ext cx="1648055" cy="762106"/>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2764732264"/>
              </p:ext>
            </p:extLst>
          </p:nvPr>
        </p:nvGraphicFramePr>
        <p:xfrm>
          <a:off x="638151" y="931895"/>
          <a:ext cx="10100290" cy="4533499"/>
        </p:xfrm>
        <a:graphic>
          <a:graphicData uri="http://schemas.openxmlformats.org/drawingml/2006/table">
            <a:tbl>
              <a:tblPr/>
              <a:tblGrid>
                <a:gridCol w="5050145">
                  <a:extLst>
                    <a:ext uri="{9D8B030D-6E8A-4147-A177-3AD203B41FA5}">
                      <a16:colId xmlns:a16="http://schemas.microsoft.com/office/drawing/2014/main" val="324644768"/>
                    </a:ext>
                  </a:extLst>
                </a:gridCol>
                <a:gridCol w="5050145">
                  <a:extLst>
                    <a:ext uri="{9D8B030D-6E8A-4147-A177-3AD203B41FA5}">
                      <a16:colId xmlns:a16="http://schemas.microsoft.com/office/drawing/2014/main" val="3441639068"/>
                    </a:ext>
                  </a:extLst>
                </a:gridCol>
              </a:tblGrid>
              <a:tr h="253847">
                <a:tc>
                  <a:txBody>
                    <a:bodyPr/>
                    <a:lstStyle/>
                    <a:p>
                      <a:r>
                        <a:rPr lang="en-IN" sz="1300" b="1" dirty="0">
                          <a:latin typeface="Times New Roman" panose="02020603050405020304" pitchFamily="18" charset="0"/>
                          <a:cs typeface="Times New Roman" panose="02020603050405020304" pitchFamily="18" charset="0"/>
                        </a:rPr>
                        <a:t>Title Component</a:t>
                      </a:r>
                    </a:p>
                  </a:txBody>
                  <a:tcPr marL="65594" marR="65594" marT="32797" marB="32797" anchor="ctr">
                    <a:lnL>
                      <a:noFill/>
                    </a:lnL>
                    <a:lnR>
                      <a:noFill/>
                    </a:lnR>
                    <a:lnT>
                      <a:noFill/>
                    </a:lnT>
                    <a:lnB>
                      <a:noFill/>
                    </a:lnB>
                  </a:tcPr>
                </a:tc>
                <a:tc>
                  <a:txBody>
                    <a:bodyPr/>
                    <a:lstStyle/>
                    <a:p>
                      <a:r>
                        <a:rPr lang="en-IN" sz="1300" b="1" dirty="0">
                          <a:latin typeface="Times New Roman" panose="02020603050405020304" pitchFamily="18" charset="0"/>
                          <a:cs typeface="Times New Roman" panose="02020603050405020304" pitchFamily="18" charset="0"/>
                        </a:rPr>
                        <a:t>Relevance to Our Project</a:t>
                      </a:r>
                    </a:p>
                  </a:txBody>
                  <a:tcPr marL="65594" marR="65594" marT="32797" marB="32797" anchor="ctr">
                    <a:lnL>
                      <a:noFill/>
                    </a:lnL>
                    <a:lnR>
                      <a:noFill/>
                    </a:lnR>
                    <a:lnT>
                      <a:noFill/>
                    </a:lnT>
                    <a:lnB>
                      <a:noFill/>
                    </a:lnB>
                  </a:tcPr>
                </a:tc>
                <a:extLst>
                  <a:ext uri="{0D108BD9-81ED-4DB2-BD59-A6C34878D82A}">
                    <a16:rowId xmlns:a16="http://schemas.microsoft.com/office/drawing/2014/main" val="895554042"/>
                  </a:ext>
                </a:extLst>
              </a:tr>
              <a:tr h="820813">
                <a:tc>
                  <a:txBody>
                    <a:bodyPr/>
                    <a:lstStyle/>
                    <a:p>
                      <a:r>
                        <a:rPr lang="en-IN" sz="1600" b="1" dirty="0">
                          <a:latin typeface="Times New Roman" panose="02020603050405020304" pitchFamily="18" charset="0"/>
                          <a:cs typeface="Times New Roman" panose="02020603050405020304" pitchFamily="18" charset="0"/>
                        </a:rPr>
                        <a:t>Agentic</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task-oriented reasoning to analyze predicted defects, investigate probable causes, and support corrective-action decisions.</a:t>
                      </a:r>
                    </a:p>
                  </a:txBody>
                  <a:tcPr marL="65594" marR="65594" marT="32797" marB="32797" anchor="ctr">
                    <a:lnL>
                      <a:noFill/>
                    </a:lnL>
                    <a:lnR>
                      <a:noFill/>
                    </a:lnR>
                    <a:lnT>
                      <a:noFill/>
                    </a:lnT>
                    <a:lnB>
                      <a:noFill/>
                    </a:lnB>
                  </a:tcPr>
                </a:tc>
                <a:extLst>
                  <a:ext uri="{0D108BD9-81ED-4DB2-BD59-A6C34878D82A}">
                    <a16:rowId xmlns:a16="http://schemas.microsoft.com/office/drawing/2014/main" val="1050482883"/>
                  </a:ext>
                </a:extLst>
              </a:tr>
              <a:tr h="767290">
                <a:tc>
                  <a:txBody>
                    <a:bodyPr/>
                    <a:lstStyle/>
                    <a:p>
                      <a:r>
                        <a:rPr lang="en-IN" sz="1600" b="1" dirty="0">
                          <a:latin typeface="Times New Roman" panose="02020603050405020304" pitchFamily="18" charset="0"/>
                          <a:cs typeface="Times New Roman" panose="02020603050405020304" pitchFamily="18" charset="0"/>
                        </a:rPr>
                        <a:t>Digital Twin</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Maintains a virtual representation of the manufacturing process and enables </a:t>
                      </a:r>
                      <a:r>
                        <a:rPr lang="en-US" sz="1600" b="1" dirty="0">
                          <a:latin typeface="Times New Roman" panose="02020603050405020304" pitchFamily="18" charset="0"/>
                          <a:cs typeface="Times New Roman" panose="02020603050405020304" pitchFamily="18" charset="0"/>
                        </a:rPr>
                        <a:t>what-if simulation</a:t>
                      </a:r>
                      <a:r>
                        <a:rPr lang="en-US" sz="1600" dirty="0">
                          <a:latin typeface="Times New Roman" panose="02020603050405020304" pitchFamily="18" charset="0"/>
                          <a:cs typeface="Times New Roman" panose="02020603050405020304" pitchFamily="18" charset="0"/>
                        </a:rPr>
                        <a:t> of process conditions.</a:t>
                      </a:r>
                    </a:p>
                  </a:txBody>
                  <a:tcPr marL="65594" marR="65594" marT="32797" marB="32797" anchor="ctr">
                    <a:lnL>
                      <a:noFill/>
                    </a:lnL>
                    <a:lnR>
                      <a:noFill/>
                    </a:lnR>
                    <a:lnT>
                      <a:noFill/>
                    </a:lnT>
                    <a:lnB>
                      <a:noFill/>
                    </a:lnB>
                  </a:tcPr>
                </a:tc>
                <a:extLst>
                  <a:ext uri="{0D108BD9-81ED-4DB2-BD59-A6C34878D82A}">
                    <a16:rowId xmlns:a16="http://schemas.microsoft.com/office/drawing/2014/main" val="4248792346"/>
                  </a:ext>
                </a:extLst>
              </a:tr>
              <a:tr h="820813">
                <a:tc>
                  <a:txBody>
                    <a:bodyPr/>
                    <a:lstStyle/>
                    <a:p>
                      <a:r>
                        <a:rPr lang="en-IN" sz="1600" b="1">
                          <a:latin typeface="Times New Roman" panose="02020603050405020304" pitchFamily="18" charset="0"/>
                          <a:cs typeface="Times New Roman" panose="02020603050405020304" pitchFamily="18" charset="0"/>
                        </a:rPr>
                        <a:t>Defect Prediction</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Uses ML models and process/sensor data to identify patterns associated with emerging or hidden product-quality defects.</a:t>
                      </a:r>
                    </a:p>
                  </a:txBody>
                  <a:tcPr marL="65594" marR="65594" marT="32797" marB="32797" anchor="ctr">
                    <a:lnL>
                      <a:noFill/>
                    </a:lnL>
                    <a:lnR>
                      <a:noFill/>
                    </a:lnR>
                    <a:lnT>
                      <a:noFill/>
                    </a:lnT>
                    <a:lnB>
                      <a:noFill/>
                    </a:lnB>
                  </a:tcPr>
                </a:tc>
                <a:extLst>
                  <a:ext uri="{0D108BD9-81ED-4DB2-BD59-A6C34878D82A}">
                    <a16:rowId xmlns:a16="http://schemas.microsoft.com/office/drawing/2014/main" val="2162961703"/>
                  </a:ext>
                </a:extLst>
              </a:tr>
              <a:tr h="820813">
                <a:tc>
                  <a:txBody>
                    <a:bodyPr/>
                    <a:lstStyle/>
                    <a:p>
                      <a:r>
                        <a:rPr lang="en-IN" sz="1600" b="1">
                          <a:latin typeface="Times New Roman" panose="02020603050405020304" pitchFamily="18" charset="0"/>
                          <a:cs typeface="Times New Roman" panose="02020603050405020304" pitchFamily="18" charset="0"/>
                        </a:rPr>
                        <a:t>Real-Time</a:t>
                      </a:r>
                      <a:endParaRPr lang="en-IN" sz="160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Enables continuous processing of incoming manufacturing data so that defect risks can be identified with minimal delay.</a:t>
                      </a:r>
                    </a:p>
                  </a:txBody>
                  <a:tcPr marL="65594" marR="65594" marT="32797" marB="32797" anchor="ctr">
                    <a:lnL>
                      <a:noFill/>
                    </a:lnL>
                    <a:lnR>
                      <a:noFill/>
                    </a:lnR>
                    <a:lnT>
                      <a:noFill/>
                    </a:lnT>
                    <a:lnB>
                      <a:noFill/>
                    </a:lnB>
                  </a:tcPr>
                </a:tc>
                <a:extLst>
                  <a:ext uri="{0D108BD9-81ED-4DB2-BD59-A6C34878D82A}">
                    <a16:rowId xmlns:a16="http://schemas.microsoft.com/office/drawing/2014/main" val="3280317788"/>
                  </a:ext>
                </a:extLst>
              </a:tr>
              <a:tr h="1010232">
                <a:tc>
                  <a:txBody>
                    <a:bodyPr/>
                    <a:lstStyle/>
                    <a:p>
                      <a:r>
                        <a:rPr lang="en-IN" sz="1600" b="1" dirty="0">
                          <a:latin typeface="Times New Roman" panose="02020603050405020304" pitchFamily="18" charset="0"/>
                          <a:cs typeface="Times New Roman" panose="02020603050405020304" pitchFamily="18" charset="0"/>
                        </a:rPr>
                        <a:t>Smart Manufacturing</a:t>
                      </a:r>
                      <a:endParaRPr lang="en-IN" sz="1600" dirty="0">
                        <a:latin typeface="Times New Roman" panose="02020603050405020304" pitchFamily="18" charset="0"/>
                        <a:cs typeface="Times New Roman" panose="02020603050405020304" pitchFamily="18" charset="0"/>
                      </a:endParaRPr>
                    </a:p>
                  </a:txBody>
                  <a:tcPr marL="65594" marR="65594" marT="32797" marB="32797"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Targets data-driven, connected manufacturing environments where process monitoring, prediction, simulation, and decision support are integrated.</a:t>
                      </a:r>
                    </a:p>
                  </a:txBody>
                  <a:tcPr marL="65594" marR="65594" marT="32797" marB="32797" anchor="ctr">
                    <a:lnL>
                      <a:noFill/>
                    </a:lnL>
                    <a:lnR>
                      <a:noFill/>
                    </a:lnR>
                    <a:lnT>
                      <a:noFill/>
                    </a:lnT>
                    <a:lnB>
                      <a:noFill/>
                    </a:lnB>
                  </a:tcPr>
                </a:tc>
                <a:extLst>
                  <a:ext uri="{0D108BD9-81ED-4DB2-BD59-A6C34878D82A}">
                    <a16:rowId xmlns:a16="http://schemas.microsoft.com/office/drawing/2014/main" val="1234000821"/>
                  </a:ext>
                </a:extLst>
              </a:tr>
            </a:tbl>
          </a:graphicData>
        </a:graphic>
      </p:graphicFrame>
    </p:spTree>
    <p:extLst>
      <p:ext uri="{BB962C8B-B14F-4D97-AF65-F5344CB8AC3E}">
        <p14:creationId xmlns:p14="http://schemas.microsoft.com/office/powerpoint/2010/main" val="2452906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SIGNIFICANCE OF THE PROJECT</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4</a:t>
            </a:r>
          </a:p>
        </p:txBody>
      </p:sp>
      <p:pic>
        <p:nvPicPr>
          <p:cNvPr id="35" name="Picture 34"/>
          <p:cNvPicPr>
            <a:picLocks noChangeAspect="1"/>
          </p:cNvPicPr>
          <p:nvPr/>
        </p:nvPicPr>
        <p:blipFill>
          <a:blip r:embed="rId3"/>
          <a:stretch>
            <a:fillRect/>
          </a:stretch>
        </p:blipFill>
        <p:spPr>
          <a:xfrm>
            <a:off x="10543640" y="85291"/>
            <a:ext cx="1648055" cy="762106"/>
          </a:xfrm>
          <a:prstGeom prst="rect">
            <a:avLst/>
          </a:prstGeom>
        </p:spPr>
      </p:pic>
      <p:sp>
        <p:nvSpPr>
          <p:cNvPr id="6" name="Rectangle 5"/>
          <p:cNvSpPr/>
          <p:nvPr/>
        </p:nvSpPr>
        <p:spPr>
          <a:xfrm>
            <a:off x="594360" y="872167"/>
            <a:ext cx="10835640" cy="4832092"/>
          </a:xfrm>
          <a:prstGeom prst="rect">
            <a:avLst/>
          </a:prstGeom>
        </p:spPr>
        <p:txBody>
          <a:bodyPr wrap="square">
            <a:spAutoFit/>
          </a:bodyPr>
          <a:lstStyle/>
          <a:p>
            <a:pPr marL="342900" indent="-342900">
              <a:buAutoNum type="arabicPeriod"/>
            </a:pPr>
            <a:r>
              <a:rPr lang="en-US" b="1" dirty="0">
                <a:latin typeface="Times New Roman" panose="02020603050405020304" pitchFamily="18" charset="0"/>
                <a:cs typeface="Times New Roman" panose="02020603050405020304" pitchFamily="18" charset="0"/>
              </a:rPr>
              <a:t>Early Defect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 emerging defects before they propagate into downstream quality failures.</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Root-Cause Intelligence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 beyond prediction by identifying probable process factors contributing to the defect.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What-If Simulation</a:t>
            </a:r>
          </a:p>
          <a:p>
            <a:r>
              <a:rPr lang="en-US" dirty="0">
                <a:latin typeface="Times New Roman" panose="02020603050405020304" pitchFamily="18" charset="0"/>
                <a:cs typeface="Times New Roman" panose="02020603050405020304" pitchFamily="18" charset="0"/>
              </a:rPr>
              <a:t> Use the Digital Twin to test corrective actions virtually before changing the physical process.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Intelligent Decision Support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Agentic AI connects prediction, diagnosis, simulation, and recommendation.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Reduced Quality Loss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Potentially reduce rework, scrap, downtime, and trial-and-error interventions.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Scalable Smart-Manufacturing Foundation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an extensible architecture for additional sensors, models, machines, and production lines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80233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CRITICAL ANALYSIS &amp; SYNTHESIS</a:t>
            </a:r>
          </a:p>
        </p:txBody>
      </p:sp>
      <p:pic>
        <p:nvPicPr>
          <p:cNvPr id="32" name="Picture 31"/>
          <p:cNvPicPr>
            <a:picLocks noChangeAspect="1"/>
          </p:cNvPicPr>
          <p:nvPr/>
        </p:nvPicPr>
        <p:blipFill>
          <a:blip r:embed="rId2"/>
          <a:stretch>
            <a:fillRect/>
          </a:stretch>
        </p:blipFill>
        <p:spPr>
          <a:xfrm>
            <a:off x="10543945" y="85291"/>
            <a:ext cx="1648055" cy="762106"/>
          </a:xfrm>
          <a:prstGeom prst="rect">
            <a:avLst/>
          </a:prstGeom>
        </p:spPr>
      </p:pic>
      <p:sp>
        <p:nvSpPr>
          <p:cNvPr id="33" name="Rectangle 2"/>
          <p:cNvSpPr>
            <a:spLocks noChangeArrowheads="1"/>
          </p:cNvSpPr>
          <p:nvPr/>
        </p:nvSpPr>
        <p:spPr bwMode="auto">
          <a:xfrm>
            <a:off x="594360" y="957125"/>
            <a:ext cx="10210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TWIN: </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Literature consistently demonstrates the use of Digital Twins for virtual representation, process monitoring, synchronization, simulation, predictive maintenance, and quality-related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PREDICTIVE AI: 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DL, multi-sensor fusion, and physics-informed models have demonstrated the ability to detect anomalies and predict defects, failures, or quality risks from manufacturing process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AGENTIC AI: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studies introduce agentic and multi-agent architectures for Digital Twin environments. However, current applications are largely oriented toward predictive maintenance rather than hidden product-defect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REAL-TIME INTEGRATION: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Across the literature, data heterogeneity, data quality, communication latency, computational complexity, model integration, and real-time synchronization remain important implementation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DECISION SUPPORT: IDENTIFIED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approaches primarily terminate at monitoring, prediction, diagnosis, or maintenance recommendation. Limited work connects defect prediction with root-cause reasoning and virtual evaluation of corrective 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SYNTHESIZED RESEARCH GAP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literature indicates an opportunity for an integrated quality-intelligence framework that connects real-time defect prediction, root-cause reasoning, Digital Twin-based what-if simulation, and corrective-action recommendation within a unified workflow.</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62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GAP ANALYSIS THROUGH LITERATURE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p:cNvSpPr txBox="1"/>
          <p:nvPr/>
        </p:nvSpPr>
        <p:spPr>
          <a:xfrm>
            <a:off x="868680" y="1234440"/>
            <a:ext cx="10424160" cy="3067506"/>
          </a:xfrm>
          <a:prstGeom prst="rect">
            <a:avLst/>
          </a:prstGeom>
          <a:noFill/>
        </p:spPr>
        <p:txBody>
          <a:bodyPr wrap="square">
            <a:spAutoFit/>
          </a:bodyPr>
          <a:lstStyle/>
          <a:p>
            <a:pPr>
              <a:spcAft>
                <a:spcPts val="1000"/>
              </a:spcAft>
              <a:defRPr sz="1500">
                <a:solidFill>
                  <a:srgbClr val="1E1E1E"/>
                </a:solidFill>
                <a:latin typeface="Arial"/>
              </a:defRPr>
            </a:pPr>
            <a:r>
              <a:rPr dirty="0"/>
              <a:t>•</a:t>
            </a:r>
            <a:r>
              <a:rPr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Existing Digital Twin systems can monitor and predict, but autonomous reasoning about why a hidden product defect may occur is less developed.</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Agentic Digital Twin research is emerging, but many demonstrated architectures emphasize predictive maintenance and equipment behavior rather than product-quality defects.</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Real-time integration remains constrained by data quality, heterogeneous sensor streams, latency, computational complexity and system interoperability.</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Prediction, root-cause analysis, virtual corrective-action testing and final recommendation are usually treated as separate capabilities</a:t>
            </a:r>
            <a:r>
              <a:rPr lang="en-US" sz="1600" dirty="0">
                <a:latin typeface="Times New Roman" panose="02020603050405020304" pitchFamily="18" charset="0"/>
                <a:cs typeface="Times New Roman" panose="02020603050405020304" pitchFamily="18" charset="0"/>
              </a:rPr>
              <a:t>, But our proposed system wants to connect these stages.</a:t>
            </a:r>
          </a:p>
          <a:p>
            <a:pPr>
              <a:spcAft>
                <a:spcPts val="1000"/>
              </a:spcAft>
              <a:defRPr sz="1500">
                <a:solidFill>
                  <a:srgbClr val="1E1E1E"/>
                </a:solidFill>
                <a:latin typeface="Arial"/>
              </a:defRPr>
            </a:pPr>
            <a:r>
              <a:rPr sz="1600" dirty="0">
                <a:latin typeface="Times New Roman" panose="02020603050405020304" pitchFamily="18" charset="0"/>
                <a:cs typeface="Times New Roman" panose="02020603050405020304" pitchFamily="18" charset="0"/>
              </a:rPr>
              <a:t>• Limited end-to-end closed-loop architectures connect a predicted defect to simulated corrective actions and measurable decision outcomes.</a:t>
            </a:r>
          </a:p>
        </p:txBody>
      </p:sp>
      <p:sp>
        <p:nvSpPr>
          <p:cNvPr id="10" name="TextBox 9"/>
          <p:cNvSpPr txBox="1"/>
          <p:nvPr/>
        </p:nvSpPr>
        <p:spPr>
          <a:xfrm>
            <a:off x="1234440" y="5138928"/>
            <a:ext cx="1463040" cy="236988"/>
          </a:xfrm>
          <a:prstGeom prst="rect">
            <a:avLst/>
          </a:prstGeom>
          <a:noFill/>
        </p:spPr>
        <p:txBody>
          <a:bodyPr wrap="square" lIns="36576" tIns="18288" rIns="36576" bIns="18288">
            <a:spAutoFit/>
          </a:bodyPr>
          <a:lstStyle/>
          <a:p>
            <a:pPr algn="l"/>
            <a:r>
              <a:rPr sz="1300" b="1" dirty="0">
                <a:solidFill>
                  <a:srgbClr val="C00000"/>
                </a:solidFill>
                <a:latin typeface="Arial"/>
              </a:rPr>
              <a:t>RESEARCH GAP</a:t>
            </a:r>
            <a:r>
              <a:rPr lang="en-IN" sz="1300" b="1" dirty="0">
                <a:solidFill>
                  <a:srgbClr val="C00000"/>
                </a:solidFill>
                <a:latin typeface="Arial"/>
              </a:rPr>
              <a:t>: </a:t>
            </a:r>
            <a:endParaRPr sz="1300" b="1" dirty="0">
              <a:solidFill>
                <a:srgbClr val="C00000"/>
              </a:solidFill>
              <a:latin typeface="Arial"/>
            </a:endParaRPr>
          </a:p>
        </p:txBody>
      </p:sp>
      <p:sp>
        <p:nvSpPr>
          <p:cNvPr id="11" name="TextBox 10"/>
          <p:cNvSpPr txBox="1"/>
          <p:nvPr/>
        </p:nvSpPr>
        <p:spPr>
          <a:xfrm>
            <a:off x="2743200" y="5047488"/>
            <a:ext cx="8046720" cy="441659"/>
          </a:xfrm>
          <a:prstGeom prst="rect">
            <a:avLst/>
          </a:prstGeom>
          <a:noFill/>
        </p:spPr>
        <p:txBody>
          <a:bodyPr wrap="square" lIns="36576" tIns="18288" rIns="36576" bIns="18288">
            <a:spAutoFit/>
          </a:bodyPr>
          <a:lstStyle/>
          <a:p>
            <a:r>
              <a:rPr sz="1230" b="1" dirty="0">
                <a:solidFill>
                  <a:srgbClr val="1E1E1E"/>
                </a:solidFill>
                <a:latin typeface="Arial"/>
              </a:rPr>
              <a:t>Need for an </a:t>
            </a:r>
            <a:r>
              <a:rPr lang="en-IN" sz="1400" b="1" dirty="0"/>
              <a:t>integrated</a:t>
            </a:r>
            <a:r>
              <a:rPr sz="1230" b="1" dirty="0">
                <a:solidFill>
                  <a:srgbClr val="1E1E1E"/>
                </a:solidFill>
                <a:latin typeface="Arial"/>
              </a:rPr>
              <a:t> agentic Digital Twin that predicts emerging product defects, reasons about probable causes, evaluates corrective actions in simulation, and recommends the most suitable action in real time.</a:t>
            </a:r>
          </a:p>
        </p:txBody>
      </p:sp>
      <p:pic>
        <p:nvPicPr>
          <p:cNvPr id="12" name="Picture 11"/>
          <p:cNvPicPr>
            <a:picLocks noChangeAspect="1"/>
          </p:cNvPicPr>
          <p:nvPr/>
        </p:nvPicPr>
        <p:blipFill>
          <a:blip r:embed="rId3"/>
          <a:stretch>
            <a:fillRect/>
          </a:stretch>
        </p:blipFill>
        <p:spPr>
          <a:xfrm>
            <a:off x="10543945" y="83051"/>
            <a:ext cx="1648055" cy="7621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4D7EA9-F604-9905-2018-AD536A04F3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CF2860-2256-2B8C-A813-597893D30068}"/>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14AC110-96E1-8594-090F-6953AFDCE1AE}"/>
              </a:ext>
            </a:extLst>
          </p:cNvPr>
          <p:cNvSpPr txBox="1"/>
          <p:nvPr/>
        </p:nvSpPr>
        <p:spPr>
          <a:xfrm>
            <a:off x="551938" y="198510"/>
            <a:ext cx="10972800" cy="867930"/>
          </a:xfrm>
          <a:prstGeom prst="rect">
            <a:avLst/>
          </a:prstGeom>
          <a:noFill/>
        </p:spPr>
        <p:txBody>
          <a:bodyPr wrap="square" lIns="36576" tIns="18288" rIns="36576" bIns="18288">
            <a:spAutoFit/>
          </a:bodyPr>
          <a:lstStyle/>
          <a:p>
            <a:pPr algn="l"/>
            <a:r>
              <a:rPr lang="en-IN" sz="2700" b="1" dirty="0">
                <a:solidFill>
                  <a:srgbClr val="1F4E79"/>
                </a:solidFill>
                <a:latin typeface="Arial"/>
              </a:rPr>
              <a:t>Innovation, Creativity, and Novelty</a:t>
            </a:r>
          </a:p>
          <a:p>
            <a:pPr algn="l"/>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640CFEA4-9EFC-E367-A26E-32F7D1319388}"/>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261D203-E1EB-C029-9966-F685A8D1029A}"/>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a:extLst>
              <a:ext uri="{FF2B5EF4-FFF2-40B4-BE49-F238E27FC236}">
                <a16:creationId xmlns:a16="http://schemas.microsoft.com/office/drawing/2014/main" id="{E718D051-774A-D423-955F-D2DF2CFDB538}"/>
              </a:ext>
            </a:extLst>
          </p:cNvPr>
          <p:cNvSpPr txBox="1"/>
          <p:nvPr/>
        </p:nvSpPr>
        <p:spPr>
          <a:xfrm>
            <a:off x="597689" y="579786"/>
            <a:ext cx="9946256" cy="6326732"/>
          </a:xfrm>
          <a:prstGeom prst="rect">
            <a:avLst/>
          </a:prstGeom>
          <a:noFill/>
        </p:spPr>
        <p:txBody>
          <a:bodyPr wrap="square">
            <a:spAutoFit/>
          </a:bodyPr>
          <a:lstStyle/>
          <a:p>
            <a:pPr>
              <a:lnSpc>
                <a:spcPct val="150000"/>
              </a:lnSpc>
            </a:pPr>
            <a:r>
              <a:rPr lang="en-IN" sz="1600" b="1" dirty="0">
                <a:latin typeface="Times New Roman" panose="02020603050405020304" pitchFamily="18" charset="0"/>
                <a:cs typeface="Times New Roman" panose="02020603050405020304" pitchFamily="18" charset="0"/>
              </a:rPr>
              <a:t>1. Prediction-to-Action Approach</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Goes beyond simply predicting machine defects/failures.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Converts the predicted risk into a </a:t>
            </a:r>
            <a:r>
              <a:rPr lang="en-IN" sz="1600" b="1" dirty="0">
                <a:latin typeface="Times New Roman" panose="02020603050405020304" pitchFamily="18" charset="0"/>
                <a:cs typeface="Times New Roman" panose="02020603050405020304" pitchFamily="18" charset="0"/>
              </a:rPr>
              <a:t>corrective decision-making process</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2. Agentic Decision Engine</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Generates </a:t>
            </a:r>
            <a:r>
              <a:rPr lang="en-IN" sz="1600" b="1" dirty="0">
                <a:latin typeface="Times New Roman" panose="02020603050405020304" pitchFamily="18" charset="0"/>
                <a:cs typeface="Times New Roman" panose="02020603050405020304" pitchFamily="18" charset="0"/>
              </a:rPr>
              <a:t>multiple possible corrective actions</a:t>
            </a:r>
            <a:r>
              <a:rPr lang="en-IN" sz="1600"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failure risk and probable contributing factors instead of providing only an alert.</a:t>
            </a:r>
          </a:p>
          <a:p>
            <a:pPr>
              <a:lnSpc>
                <a:spcPct val="150000"/>
              </a:lnSpc>
            </a:pPr>
            <a:r>
              <a:rPr lang="en-IN" sz="1600" b="1" dirty="0">
                <a:latin typeface="Times New Roman" panose="02020603050405020304" pitchFamily="18" charset="0"/>
                <a:cs typeface="Times New Roman" panose="02020603050405020304" pitchFamily="18" charset="0"/>
              </a:rPr>
              <a:t>3. Digital Twin-Based What-If Testing</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Virtually tests each corrective action before physical implementation.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Allows comparison of different possible machine/process conditions.</a:t>
            </a:r>
          </a:p>
          <a:p>
            <a:pPr>
              <a:lnSpc>
                <a:spcPct val="150000"/>
              </a:lnSpc>
            </a:pPr>
            <a:r>
              <a:rPr lang="en-IN" sz="1600" b="1" dirty="0">
                <a:latin typeface="Times New Roman" panose="02020603050405020304" pitchFamily="18" charset="0"/>
                <a:cs typeface="Times New Roman" panose="02020603050405020304" pitchFamily="18" charset="0"/>
              </a:rPr>
              <a:t>4. Quantitative Solution Comparison</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Compares candidate actions using:</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Predicted failure risk</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reduction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Constraint satisfaction</a:t>
            </a:r>
          </a:p>
          <a:p>
            <a:pPr>
              <a:lnSpc>
                <a:spcPct val="150000"/>
              </a:lnSpc>
            </a:pPr>
            <a:r>
              <a:rPr lang="en-IN" sz="1600" b="1" dirty="0">
                <a:latin typeface="Times New Roman" panose="02020603050405020304" pitchFamily="18" charset="0"/>
                <a:cs typeface="Times New Roman" panose="02020603050405020304" pitchFamily="18" charset="0"/>
              </a:rPr>
              <a:t>5. Closed-Loop Intelligent Workflow:</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Monitor → Predict → Generate → Simulate → Compare → Recommend → Monitor</a:t>
            </a:r>
            <a:endParaRPr lang="en-IN" sz="1600" dirty="0">
              <a:latin typeface="Times New Roman" panose="02020603050405020304" pitchFamily="18" charset="0"/>
              <a:cs typeface="Times New Roman" panose="02020603050405020304" pitchFamily="18" charset="0"/>
            </a:endParaRPr>
          </a:p>
          <a:p>
            <a:pPr lvl="0">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7B05622C-D411-3C0F-A3E1-6382F7833460}"/>
              </a:ext>
            </a:extLst>
          </p:cNvPr>
          <p:cNvPicPr>
            <a:picLocks noChangeAspect="1"/>
          </p:cNvPicPr>
          <p:nvPr/>
        </p:nvPicPr>
        <p:blipFill>
          <a:blip r:embed="rId3"/>
          <a:stretch>
            <a:fillRect/>
          </a:stretch>
        </p:blipFill>
        <p:spPr>
          <a:xfrm>
            <a:off x="10543945" y="83051"/>
            <a:ext cx="1648055" cy="762106"/>
          </a:xfrm>
          <a:prstGeom prst="rect">
            <a:avLst/>
          </a:prstGeom>
        </p:spPr>
      </p:pic>
    </p:spTree>
    <p:extLst>
      <p:ext uri="{BB962C8B-B14F-4D97-AF65-F5344CB8AC3E}">
        <p14:creationId xmlns:p14="http://schemas.microsoft.com/office/powerpoint/2010/main" val="4194233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B6B376-F496-3140-4CFC-F657911E53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EDEABEF-F537-6696-2A4B-61A59D92DA7E}"/>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50D70FE-8100-AD7B-9AC1-E7F36E2773CD}"/>
              </a:ext>
            </a:extLst>
          </p:cNvPr>
          <p:cNvSpPr txBox="1"/>
          <p:nvPr/>
        </p:nvSpPr>
        <p:spPr>
          <a:xfrm>
            <a:off x="551938" y="357778"/>
            <a:ext cx="10972800" cy="452432"/>
          </a:xfrm>
          <a:prstGeom prst="rect">
            <a:avLst/>
          </a:prstGeom>
          <a:noFill/>
        </p:spPr>
        <p:txBody>
          <a:bodyPr wrap="square" lIns="36576" tIns="18288" rIns="36576" bIns="18288">
            <a:spAutoFit/>
          </a:bodyPr>
          <a:lstStyle/>
          <a:p>
            <a:pPr algn="l"/>
            <a:r>
              <a:rPr lang="en-US" sz="2700" b="1" dirty="0">
                <a:solidFill>
                  <a:srgbClr val="1F4E79"/>
                </a:solidFill>
                <a:latin typeface="Arial"/>
              </a:rPr>
              <a:t>FEASIBILITY</a:t>
            </a:r>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9D928962-41CB-7269-0E0A-257212E71579}"/>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B8503E6-76FF-D8DF-41E4-F9C8070F10F0}"/>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sp>
        <p:nvSpPr>
          <p:cNvPr id="8" name="TextBox 7">
            <a:extLst>
              <a:ext uri="{FF2B5EF4-FFF2-40B4-BE49-F238E27FC236}">
                <a16:creationId xmlns:a16="http://schemas.microsoft.com/office/drawing/2014/main" id="{7DA6472C-B147-E7E6-1C11-D9915F51BEE0}"/>
              </a:ext>
            </a:extLst>
          </p:cNvPr>
          <p:cNvSpPr txBox="1"/>
          <p:nvPr/>
        </p:nvSpPr>
        <p:spPr>
          <a:xfrm>
            <a:off x="551938" y="845157"/>
            <a:ext cx="9946256" cy="583428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Technical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Python-based ML model development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Random Forest for initial failure prediction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Agentic decision layer for corrective-action generation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Digital Twin for virtual what-if simulation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Web-based interface for visualization</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Data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Public predictive-maintenance datasets available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Manufacturing parameters such as temperature, speed, torque, and process conditions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Dataset can be used for initial model development and evaluation</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Implementation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architecture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ML, Agentic AI, and Digital Twin components can be developed independently</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APIs can connect the individual modules</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Incremental development allows testing at every stage</a:t>
            </a:r>
          </a:p>
          <a:p>
            <a:pPr lvl="0"/>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Practical Feasibility</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Initial implementation can be performed using software-based simulation</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Physical industrial equipment is not required for the prototype</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Digital Twin allows virtual testing of corrective actions</a:t>
            </a:r>
          </a:p>
          <a:p>
            <a:pPr lvl="0">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7292C49-1A2E-F0ED-2A4A-3D8549E24005}"/>
              </a:ext>
            </a:extLst>
          </p:cNvPr>
          <p:cNvPicPr>
            <a:picLocks noChangeAspect="1"/>
          </p:cNvPicPr>
          <p:nvPr/>
        </p:nvPicPr>
        <p:blipFill>
          <a:blip r:embed="rId3"/>
          <a:stretch>
            <a:fillRect/>
          </a:stretch>
        </p:blipFill>
        <p:spPr>
          <a:xfrm>
            <a:off x="10543945" y="83051"/>
            <a:ext cx="1648055" cy="762106"/>
          </a:xfrm>
          <a:prstGeom prst="rect">
            <a:avLst/>
          </a:prstGeom>
        </p:spPr>
      </p:pic>
    </p:spTree>
    <p:extLst>
      <p:ext uri="{BB962C8B-B14F-4D97-AF65-F5344CB8AC3E}">
        <p14:creationId xmlns:p14="http://schemas.microsoft.com/office/powerpoint/2010/main" val="3647743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CB10A3-BA37-D3C3-DE24-3010C65CF9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75A7AF-75AA-6CA0-8AA6-CDD7928D95C2}"/>
              </a:ext>
            </a:extLst>
          </p:cNvPr>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6F1D8A3-B82F-A6AA-380D-6F5FEC36E208}"/>
              </a:ext>
            </a:extLst>
          </p:cNvPr>
          <p:cNvSpPr txBox="1"/>
          <p:nvPr/>
        </p:nvSpPr>
        <p:spPr>
          <a:xfrm>
            <a:off x="395172" y="227938"/>
            <a:ext cx="10972800" cy="867930"/>
          </a:xfrm>
          <a:prstGeom prst="rect">
            <a:avLst/>
          </a:prstGeom>
          <a:noFill/>
        </p:spPr>
        <p:txBody>
          <a:bodyPr wrap="square" lIns="36576" tIns="18288" rIns="36576" bIns="18288">
            <a:spAutoFit/>
          </a:bodyPr>
          <a:lstStyle/>
          <a:p>
            <a:pPr algn="l"/>
            <a:r>
              <a:rPr lang="en-IN" sz="2700" b="1" dirty="0">
                <a:solidFill>
                  <a:srgbClr val="1F4E79"/>
                </a:solidFill>
                <a:latin typeface="Arial"/>
              </a:rPr>
              <a:t>FEASIBILITY &amp; PROJECT PLAN</a:t>
            </a:r>
          </a:p>
          <a:p>
            <a:pPr algn="l"/>
            <a:endParaRPr lang="en-IN" sz="2700" b="1" dirty="0">
              <a:solidFill>
                <a:srgbClr val="1F4E79"/>
              </a:solidFill>
              <a:latin typeface="Arial"/>
            </a:endParaRPr>
          </a:p>
        </p:txBody>
      </p:sp>
      <p:sp>
        <p:nvSpPr>
          <p:cNvPr id="5" name="Rectangle 4">
            <a:extLst>
              <a:ext uri="{FF2B5EF4-FFF2-40B4-BE49-F238E27FC236}">
                <a16:creationId xmlns:a16="http://schemas.microsoft.com/office/drawing/2014/main" id="{2836ABDB-3F1D-F43A-2DBF-283A1743D559}"/>
              </a:ext>
            </a:extLst>
          </p:cNvPr>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DB40B9F-E453-BAEF-E6E9-4B588DE68270}"/>
              </a:ext>
            </a:extLst>
          </p:cNvPr>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9</a:t>
            </a:r>
          </a:p>
        </p:txBody>
      </p:sp>
      <p:pic>
        <p:nvPicPr>
          <p:cNvPr id="12" name="Picture 11">
            <a:extLst>
              <a:ext uri="{FF2B5EF4-FFF2-40B4-BE49-F238E27FC236}">
                <a16:creationId xmlns:a16="http://schemas.microsoft.com/office/drawing/2014/main" id="{6A811EB1-93DA-9A11-E593-14659B2C0A35}"/>
              </a:ext>
            </a:extLst>
          </p:cNvPr>
          <p:cNvPicPr>
            <a:picLocks noChangeAspect="1"/>
          </p:cNvPicPr>
          <p:nvPr/>
        </p:nvPicPr>
        <p:blipFill>
          <a:blip r:embed="rId3"/>
          <a:stretch>
            <a:fillRect/>
          </a:stretch>
        </p:blipFill>
        <p:spPr>
          <a:xfrm>
            <a:off x="10543945" y="83051"/>
            <a:ext cx="1648055" cy="762106"/>
          </a:xfrm>
          <a:prstGeom prst="rect">
            <a:avLst/>
          </a:prstGeom>
        </p:spPr>
      </p:pic>
      <p:graphicFrame>
        <p:nvGraphicFramePr>
          <p:cNvPr id="4" name="Table 3">
            <a:extLst>
              <a:ext uri="{FF2B5EF4-FFF2-40B4-BE49-F238E27FC236}">
                <a16:creationId xmlns:a16="http://schemas.microsoft.com/office/drawing/2014/main" id="{38FC1538-1E2A-5DC4-9B78-95BD86328D80}"/>
              </a:ext>
            </a:extLst>
          </p:cNvPr>
          <p:cNvGraphicFramePr>
            <a:graphicFrameLocks noGrp="1"/>
          </p:cNvGraphicFramePr>
          <p:nvPr>
            <p:extLst>
              <p:ext uri="{D42A27DB-BD31-4B8C-83A1-F6EECF244321}">
                <p14:modId xmlns:p14="http://schemas.microsoft.com/office/powerpoint/2010/main" val="716555078"/>
              </p:ext>
            </p:extLst>
          </p:nvPr>
        </p:nvGraphicFramePr>
        <p:xfrm>
          <a:off x="321900" y="845157"/>
          <a:ext cx="8229600" cy="3847474"/>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4196848634"/>
                    </a:ext>
                  </a:extLst>
                </a:gridCol>
                <a:gridCol w="4114800">
                  <a:extLst>
                    <a:ext uri="{9D8B030D-6E8A-4147-A177-3AD203B41FA5}">
                      <a16:colId xmlns:a16="http://schemas.microsoft.com/office/drawing/2014/main" val="1512590195"/>
                    </a:ext>
                  </a:extLst>
                </a:gridCol>
              </a:tblGrid>
              <a:tr h="366426">
                <a:tc>
                  <a:txBody>
                    <a:bodyPr/>
                    <a:lstStyle/>
                    <a:p>
                      <a:pPr>
                        <a:buNone/>
                      </a:pPr>
                      <a:r>
                        <a:rPr lang="en-IN" b="1" dirty="0"/>
                        <a:t>Phase</a:t>
                      </a:r>
                    </a:p>
                  </a:txBody>
                  <a:tcPr anchor="ctr"/>
                </a:tc>
                <a:tc>
                  <a:txBody>
                    <a:bodyPr/>
                    <a:lstStyle/>
                    <a:p>
                      <a:pPr>
                        <a:buNone/>
                      </a:pPr>
                      <a:r>
                        <a:rPr lang="en-IN" b="1" dirty="0"/>
                        <a:t>Work</a:t>
                      </a:r>
                    </a:p>
                  </a:txBody>
                  <a:tcPr anchor="ctr"/>
                </a:tc>
                <a:extLst>
                  <a:ext uri="{0D108BD9-81ED-4DB2-BD59-A6C34878D82A}">
                    <a16:rowId xmlns:a16="http://schemas.microsoft.com/office/drawing/2014/main" val="3609440971"/>
                  </a:ext>
                </a:extLst>
              </a:tr>
              <a:tr h="641246">
                <a:tc>
                  <a:txBody>
                    <a:bodyPr/>
                    <a:lstStyle/>
                    <a:p>
                      <a:pPr>
                        <a:buNone/>
                      </a:pPr>
                      <a:r>
                        <a:rPr lang="en-IN"/>
                        <a:t>Phase 1</a:t>
                      </a:r>
                    </a:p>
                  </a:txBody>
                  <a:tcPr anchor="ctr"/>
                </a:tc>
                <a:tc>
                  <a:txBody>
                    <a:bodyPr/>
                    <a:lstStyle/>
                    <a:p>
                      <a:pPr>
                        <a:buNone/>
                      </a:pPr>
                      <a:r>
                        <a:rPr lang="en-IN"/>
                        <a:t>Problem identification and literature review</a:t>
                      </a:r>
                    </a:p>
                  </a:txBody>
                  <a:tcPr anchor="ctr"/>
                </a:tc>
                <a:extLst>
                  <a:ext uri="{0D108BD9-81ED-4DB2-BD59-A6C34878D82A}">
                    <a16:rowId xmlns:a16="http://schemas.microsoft.com/office/drawing/2014/main" val="3388634934"/>
                  </a:ext>
                </a:extLst>
              </a:tr>
              <a:tr h="366426">
                <a:tc>
                  <a:txBody>
                    <a:bodyPr/>
                    <a:lstStyle/>
                    <a:p>
                      <a:pPr>
                        <a:buNone/>
                      </a:pPr>
                      <a:r>
                        <a:rPr lang="en-IN"/>
                        <a:t>Phase 2</a:t>
                      </a:r>
                    </a:p>
                  </a:txBody>
                  <a:tcPr anchor="ctr"/>
                </a:tc>
                <a:tc>
                  <a:txBody>
                    <a:bodyPr/>
                    <a:lstStyle/>
                    <a:p>
                      <a:pPr>
                        <a:buNone/>
                      </a:pPr>
                      <a:r>
                        <a:rPr lang="en-IN"/>
                        <a:t>Research gap and requirement analysis</a:t>
                      </a:r>
                    </a:p>
                  </a:txBody>
                  <a:tcPr anchor="ctr"/>
                </a:tc>
                <a:extLst>
                  <a:ext uri="{0D108BD9-81ED-4DB2-BD59-A6C34878D82A}">
                    <a16:rowId xmlns:a16="http://schemas.microsoft.com/office/drawing/2014/main" val="4085072738"/>
                  </a:ext>
                </a:extLst>
              </a:tr>
              <a:tr h="366426">
                <a:tc>
                  <a:txBody>
                    <a:bodyPr/>
                    <a:lstStyle/>
                    <a:p>
                      <a:pPr>
                        <a:buNone/>
                      </a:pPr>
                      <a:r>
                        <a:rPr lang="en-IN"/>
                        <a:t>Phase 3</a:t>
                      </a:r>
                    </a:p>
                  </a:txBody>
                  <a:tcPr anchor="ctr"/>
                </a:tc>
                <a:tc>
                  <a:txBody>
                    <a:bodyPr/>
                    <a:lstStyle/>
                    <a:p>
                      <a:pPr>
                        <a:buNone/>
                      </a:pPr>
                      <a:r>
                        <a:rPr lang="en-IN"/>
                        <a:t>Dataset collection and preprocessing</a:t>
                      </a:r>
                    </a:p>
                  </a:txBody>
                  <a:tcPr anchor="ctr"/>
                </a:tc>
                <a:extLst>
                  <a:ext uri="{0D108BD9-81ED-4DB2-BD59-A6C34878D82A}">
                    <a16:rowId xmlns:a16="http://schemas.microsoft.com/office/drawing/2014/main" val="490162489"/>
                  </a:ext>
                </a:extLst>
              </a:tr>
              <a:tr h="366426">
                <a:tc>
                  <a:txBody>
                    <a:bodyPr/>
                    <a:lstStyle/>
                    <a:p>
                      <a:pPr>
                        <a:buNone/>
                      </a:pPr>
                      <a:r>
                        <a:rPr lang="en-IN"/>
                        <a:t>Phase 4</a:t>
                      </a:r>
                    </a:p>
                  </a:txBody>
                  <a:tcPr anchor="ctr"/>
                </a:tc>
                <a:tc>
                  <a:txBody>
                    <a:bodyPr/>
                    <a:lstStyle/>
                    <a:p>
                      <a:pPr>
                        <a:buNone/>
                      </a:pPr>
                      <a:r>
                        <a:rPr lang="en-IN"/>
                        <a:t>ML model development and evaluation</a:t>
                      </a:r>
                    </a:p>
                  </a:txBody>
                  <a:tcPr anchor="ctr"/>
                </a:tc>
                <a:extLst>
                  <a:ext uri="{0D108BD9-81ED-4DB2-BD59-A6C34878D82A}">
                    <a16:rowId xmlns:a16="http://schemas.microsoft.com/office/drawing/2014/main" val="3746332955"/>
                  </a:ext>
                </a:extLst>
              </a:tr>
              <a:tr h="366426">
                <a:tc>
                  <a:txBody>
                    <a:bodyPr/>
                    <a:lstStyle/>
                    <a:p>
                      <a:pPr>
                        <a:buNone/>
                      </a:pPr>
                      <a:r>
                        <a:rPr lang="en-IN"/>
                        <a:t>Phase 5</a:t>
                      </a:r>
                    </a:p>
                  </a:txBody>
                  <a:tcPr anchor="ctr"/>
                </a:tc>
                <a:tc>
                  <a:txBody>
                    <a:bodyPr/>
                    <a:lstStyle/>
                    <a:p>
                      <a:pPr>
                        <a:buNone/>
                      </a:pPr>
                      <a:r>
                        <a:rPr lang="en-IN"/>
                        <a:t>Agentic Decision Engine development</a:t>
                      </a:r>
                    </a:p>
                  </a:txBody>
                  <a:tcPr anchor="ctr"/>
                </a:tc>
                <a:extLst>
                  <a:ext uri="{0D108BD9-81ED-4DB2-BD59-A6C34878D82A}">
                    <a16:rowId xmlns:a16="http://schemas.microsoft.com/office/drawing/2014/main" val="4263450420"/>
                  </a:ext>
                </a:extLst>
              </a:tr>
              <a:tr h="366426">
                <a:tc>
                  <a:txBody>
                    <a:bodyPr/>
                    <a:lstStyle/>
                    <a:p>
                      <a:pPr>
                        <a:buNone/>
                      </a:pPr>
                      <a:r>
                        <a:rPr lang="en-IN"/>
                        <a:t>Phase 6</a:t>
                      </a:r>
                    </a:p>
                  </a:txBody>
                  <a:tcPr anchor="ctr"/>
                </a:tc>
                <a:tc>
                  <a:txBody>
                    <a:bodyPr/>
                    <a:lstStyle/>
                    <a:p>
                      <a:pPr>
                        <a:buNone/>
                      </a:pPr>
                      <a:r>
                        <a:rPr lang="en-IN"/>
                        <a:t>Digital Twin and what-if simulation</a:t>
                      </a:r>
                    </a:p>
                  </a:txBody>
                  <a:tcPr anchor="ctr"/>
                </a:tc>
                <a:extLst>
                  <a:ext uri="{0D108BD9-81ED-4DB2-BD59-A6C34878D82A}">
                    <a16:rowId xmlns:a16="http://schemas.microsoft.com/office/drawing/2014/main" val="3009938620"/>
                  </a:ext>
                </a:extLst>
              </a:tr>
              <a:tr h="641246">
                <a:tc>
                  <a:txBody>
                    <a:bodyPr/>
                    <a:lstStyle/>
                    <a:p>
                      <a:pPr>
                        <a:buNone/>
                      </a:pPr>
                      <a:r>
                        <a:rPr lang="en-IN"/>
                        <a:t>Phase 7</a:t>
                      </a:r>
                    </a:p>
                  </a:txBody>
                  <a:tcPr anchor="ctr"/>
                </a:tc>
                <a:tc>
                  <a:txBody>
                    <a:bodyPr/>
                    <a:lstStyle/>
                    <a:p>
                      <a:pPr>
                        <a:buNone/>
                      </a:pPr>
                      <a:r>
                        <a:rPr lang="en-IN"/>
                        <a:t>Integration and corrective recommendation</a:t>
                      </a:r>
                    </a:p>
                  </a:txBody>
                  <a:tcPr anchor="ctr"/>
                </a:tc>
                <a:extLst>
                  <a:ext uri="{0D108BD9-81ED-4DB2-BD59-A6C34878D82A}">
                    <a16:rowId xmlns:a16="http://schemas.microsoft.com/office/drawing/2014/main" val="3595817600"/>
                  </a:ext>
                </a:extLst>
              </a:tr>
              <a:tr h="366426">
                <a:tc>
                  <a:txBody>
                    <a:bodyPr/>
                    <a:lstStyle/>
                    <a:p>
                      <a:pPr>
                        <a:buNone/>
                      </a:pPr>
                      <a:r>
                        <a:rPr lang="en-IN"/>
                        <a:t>Phase 8</a:t>
                      </a:r>
                    </a:p>
                  </a:txBody>
                  <a:tcPr anchor="ctr"/>
                </a:tc>
                <a:tc>
                  <a:txBody>
                    <a:bodyPr/>
                    <a:lstStyle/>
                    <a:p>
                      <a:pPr>
                        <a:buNone/>
                      </a:pPr>
                      <a:r>
                        <a:rPr lang="en-IN" dirty="0"/>
                        <a:t>Testing, evaluation and documentation</a:t>
                      </a:r>
                    </a:p>
                  </a:txBody>
                  <a:tcPr anchor="ctr"/>
                </a:tc>
                <a:extLst>
                  <a:ext uri="{0D108BD9-81ED-4DB2-BD59-A6C34878D82A}">
                    <a16:rowId xmlns:a16="http://schemas.microsoft.com/office/drawing/2014/main" val="676235927"/>
                  </a:ext>
                </a:extLst>
              </a:tr>
            </a:tbl>
          </a:graphicData>
        </a:graphic>
      </p:graphicFrame>
      <p:sp>
        <p:nvSpPr>
          <p:cNvPr id="10" name="TextBox 9">
            <a:extLst>
              <a:ext uri="{FF2B5EF4-FFF2-40B4-BE49-F238E27FC236}">
                <a16:creationId xmlns:a16="http://schemas.microsoft.com/office/drawing/2014/main" id="{2300CB08-5326-53DB-D434-289974BB6547}"/>
              </a:ext>
            </a:extLst>
          </p:cNvPr>
          <p:cNvSpPr txBox="1"/>
          <p:nvPr/>
        </p:nvSpPr>
        <p:spPr>
          <a:xfrm>
            <a:off x="8609163" y="409215"/>
            <a:ext cx="2820837" cy="6001643"/>
          </a:xfrm>
          <a:prstGeom prst="rect">
            <a:avLst/>
          </a:prstGeom>
          <a:noFill/>
        </p:spPr>
        <p:txBody>
          <a:bodyPr wrap="square">
            <a:spAutoFit/>
          </a:bodyPr>
          <a:lstStyle/>
          <a:p>
            <a:endParaRPr lang="en-US" sz="1600" dirty="0"/>
          </a:p>
          <a:p>
            <a:r>
              <a:rPr lang="en-US" sz="1600" dirty="0"/>
              <a:t>4. </a:t>
            </a:r>
            <a:r>
              <a:rPr lang="en-US" sz="1600" u="sng" dirty="0"/>
              <a:t>ML Model Development: </a:t>
            </a:r>
            <a:r>
              <a:rPr lang="en-US" sz="1600" dirty="0"/>
              <a:t>Train and evaluate the Machine Learning model to predict machine failure/defect risk.</a:t>
            </a:r>
          </a:p>
          <a:p>
            <a:r>
              <a:rPr lang="en-US" sz="1600" dirty="0"/>
              <a:t>5. </a:t>
            </a:r>
            <a:r>
              <a:rPr lang="en-US" sz="1600" u="sng" dirty="0"/>
              <a:t>Agentic Decision Engine</a:t>
            </a:r>
            <a:r>
              <a:rPr lang="en-US" sz="1600" dirty="0"/>
              <a:t>:   Develop the agentic layer to analyze failure risk and generate possible corrective actions.</a:t>
            </a:r>
          </a:p>
          <a:p>
            <a:r>
              <a:rPr lang="en-US" sz="1600" dirty="0"/>
              <a:t>6</a:t>
            </a:r>
            <a:r>
              <a:rPr lang="en-US" sz="1600" u="sng" dirty="0"/>
              <a:t>. Digital Twin Development: </a:t>
            </a:r>
            <a:r>
              <a:rPr lang="en-US" sz="1600" dirty="0"/>
              <a:t>Build the virtual machine/process model for testing corrective actions through what-if simulation.</a:t>
            </a:r>
          </a:p>
          <a:p>
            <a:r>
              <a:rPr lang="en-US" sz="1600" dirty="0"/>
              <a:t>7. </a:t>
            </a:r>
            <a:r>
              <a:rPr lang="en-US" sz="1600" u="sng" dirty="0"/>
              <a:t>System Integration: </a:t>
            </a:r>
            <a:r>
              <a:rPr lang="en-US" sz="1600" dirty="0"/>
              <a:t>Connect the ML model, Agentic Decision Engine, Digital Twin, and recommendation components.</a:t>
            </a:r>
          </a:p>
          <a:p>
            <a:r>
              <a:rPr lang="en-US" sz="1600" dirty="0"/>
              <a:t>8. </a:t>
            </a:r>
            <a:r>
              <a:rPr lang="en-US" sz="1600" u="sng" dirty="0"/>
              <a:t>Testing &amp; Evaluation: </a:t>
            </a:r>
            <a:r>
              <a:rPr lang="en-US" sz="1600" dirty="0"/>
              <a:t>Test the complete system and evaluate prediction accuracy, risk reduction, and decision performance.</a:t>
            </a:r>
          </a:p>
        </p:txBody>
      </p:sp>
      <p:sp>
        <p:nvSpPr>
          <p:cNvPr id="11" name="TextBox 10">
            <a:extLst>
              <a:ext uri="{FF2B5EF4-FFF2-40B4-BE49-F238E27FC236}">
                <a16:creationId xmlns:a16="http://schemas.microsoft.com/office/drawing/2014/main" id="{FDB89984-D3B6-D323-1463-71841C59C37F}"/>
              </a:ext>
            </a:extLst>
          </p:cNvPr>
          <p:cNvSpPr txBox="1"/>
          <p:nvPr/>
        </p:nvSpPr>
        <p:spPr>
          <a:xfrm>
            <a:off x="245700" y="4682015"/>
            <a:ext cx="8016968" cy="1569660"/>
          </a:xfrm>
          <a:prstGeom prst="rect">
            <a:avLst/>
          </a:prstGeom>
          <a:noFill/>
        </p:spPr>
        <p:txBody>
          <a:bodyPr wrap="square" rtlCol="0">
            <a:spAutoFit/>
          </a:bodyPr>
          <a:lstStyle/>
          <a:p>
            <a:r>
              <a:rPr lang="en-US" sz="1600" dirty="0"/>
              <a:t>1. </a:t>
            </a:r>
            <a:r>
              <a:rPr lang="en-US" sz="1600" u="sng" dirty="0"/>
              <a:t>Problem Identification</a:t>
            </a:r>
            <a:r>
              <a:rPr lang="en-US" sz="1600" dirty="0"/>
              <a:t>: Identify the manufacturing failure/defect prediction problem and define the project objectives.</a:t>
            </a:r>
          </a:p>
          <a:p>
            <a:r>
              <a:rPr lang="en-US" sz="1600" dirty="0"/>
              <a:t>2. </a:t>
            </a:r>
            <a:r>
              <a:rPr lang="en-US" sz="1600" u="sng" dirty="0"/>
              <a:t>Literature Review: </a:t>
            </a:r>
            <a:r>
              <a:rPr lang="en-US" sz="1600" dirty="0"/>
              <a:t>Study existing Machine Learning, Agentic AI, and Digital Twin approaches related to manufacturing.</a:t>
            </a:r>
          </a:p>
          <a:p>
            <a:r>
              <a:rPr lang="en-US" sz="1600" dirty="0"/>
              <a:t>3. </a:t>
            </a:r>
            <a:r>
              <a:rPr lang="en-US" sz="1600" u="sng" dirty="0"/>
              <a:t>Gap Analysis: </a:t>
            </a:r>
            <a:r>
              <a:rPr lang="en-US" sz="1600" dirty="0"/>
              <a:t>Identify limitations in existing approaches and define how our system addresses those gaps.</a:t>
            </a:r>
          </a:p>
        </p:txBody>
      </p:sp>
    </p:spTree>
    <p:extLst>
      <p:ext uri="{BB962C8B-B14F-4D97-AF65-F5344CB8AC3E}">
        <p14:creationId xmlns:p14="http://schemas.microsoft.com/office/powerpoint/2010/main" val="3449421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92608"/>
            <a:ext cx="10972800" cy="457200"/>
          </a:xfrm>
          <a:prstGeom prst="rect">
            <a:avLst/>
          </a:prstGeom>
          <a:noFill/>
        </p:spPr>
        <p:txBody>
          <a:bodyPr wrap="square" lIns="36576" tIns="18288" rIns="36576" bIns="18288">
            <a:spAutoFit/>
          </a:bodyPr>
          <a:lstStyle/>
          <a:p>
            <a:pPr algn="l"/>
            <a:r>
              <a:rPr sz="2700" b="1">
                <a:solidFill>
                  <a:srgbClr val="1F4E79"/>
                </a:solidFill>
                <a:latin typeface="Arial"/>
              </a:rPr>
              <a:t>PROPOSED SYSTEM ARCHITECTURE</a:t>
            </a:r>
          </a:p>
        </p:txBody>
      </p:sp>
      <p:sp>
        <p:nvSpPr>
          <p:cNvPr id="5" name="Rectangle 4"/>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10</a:t>
            </a:r>
          </a:p>
        </p:txBody>
      </p:sp>
      <p:pic>
        <p:nvPicPr>
          <p:cNvPr id="39" name="Picture 38"/>
          <p:cNvPicPr>
            <a:picLocks noChangeAspect="1"/>
          </p:cNvPicPr>
          <p:nvPr/>
        </p:nvPicPr>
        <p:blipFill>
          <a:blip r:embed="rId2"/>
          <a:stretch>
            <a:fillRect/>
          </a:stretch>
        </p:blipFill>
        <p:spPr>
          <a:xfrm>
            <a:off x="10543945" y="94435"/>
            <a:ext cx="1648055" cy="762106"/>
          </a:xfrm>
          <a:prstGeom prst="rect">
            <a:avLst/>
          </a:prstGeom>
        </p:spPr>
      </p:pic>
      <p:pic>
        <p:nvPicPr>
          <p:cNvPr id="41" name="Picture 40"/>
          <p:cNvPicPr>
            <a:picLocks noChangeAspect="1"/>
          </p:cNvPicPr>
          <p:nvPr/>
        </p:nvPicPr>
        <p:blipFill>
          <a:blip r:embed="rId3"/>
          <a:stretch>
            <a:fillRect/>
          </a:stretch>
        </p:blipFill>
        <p:spPr>
          <a:xfrm>
            <a:off x="376467" y="1236853"/>
            <a:ext cx="11053533" cy="48663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50180"/>
            <a:ext cx="10972800" cy="457200"/>
          </a:xfrm>
          <a:prstGeom prst="rect">
            <a:avLst/>
          </a:prstGeom>
          <a:noFill/>
        </p:spPr>
        <p:txBody>
          <a:bodyPr wrap="square" lIns="36576" tIns="18288" rIns="36576" bIns="18288">
            <a:spAutoFit/>
          </a:bodyPr>
          <a:lstStyle/>
          <a:p>
            <a:pPr algn="l"/>
            <a:r>
              <a:rPr sz="2700" b="1" dirty="0">
                <a:solidFill>
                  <a:srgbClr val="1F4E79"/>
                </a:solidFill>
                <a:latin typeface="Arial"/>
              </a:rPr>
              <a:t>IMPLEMENTATION</a:t>
            </a:r>
          </a:p>
        </p:txBody>
      </p:sp>
      <p:sp>
        <p:nvSpPr>
          <p:cNvPr id="7" name="TextBox 6"/>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13</a:t>
            </a:r>
          </a:p>
        </p:txBody>
      </p:sp>
      <p:pic>
        <p:nvPicPr>
          <p:cNvPr id="11" name="Picture 10"/>
          <p:cNvPicPr>
            <a:picLocks noChangeAspect="1"/>
          </p:cNvPicPr>
          <p:nvPr/>
        </p:nvPicPr>
        <p:blipFill>
          <a:blip r:embed="rId2"/>
          <a:stretch>
            <a:fillRect/>
          </a:stretch>
        </p:blipFill>
        <p:spPr>
          <a:xfrm>
            <a:off x="10543945" y="73152"/>
            <a:ext cx="1648055" cy="762106"/>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890290926"/>
              </p:ext>
            </p:extLst>
          </p:nvPr>
        </p:nvGraphicFramePr>
        <p:xfrm>
          <a:off x="880532" y="376560"/>
          <a:ext cx="10549468" cy="6371492"/>
        </p:xfrm>
        <a:graphic>
          <a:graphicData uri="http://schemas.openxmlformats.org/drawingml/2006/table">
            <a:tbl>
              <a:tblPr/>
              <a:tblGrid>
                <a:gridCol w="5274734">
                  <a:extLst>
                    <a:ext uri="{9D8B030D-6E8A-4147-A177-3AD203B41FA5}">
                      <a16:colId xmlns:a16="http://schemas.microsoft.com/office/drawing/2014/main" val="2024988023"/>
                    </a:ext>
                  </a:extLst>
                </a:gridCol>
                <a:gridCol w="5274734">
                  <a:extLst>
                    <a:ext uri="{9D8B030D-6E8A-4147-A177-3AD203B41FA5}">
                      <a16:colId xmlns:a16="http://schemas.microsoft.com/office/drawing/2014/main" val="2877638553"/>
                    </a:ext>
                  </a:extLst>
                </a:gridCol>
              </a:tblGrid>
              <a:tr h="268412">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extLst>
                  <a:ext uri="{0D108BD9-81ED-4DB2-BD59-A6C34878D82A}">
                    <a16:rowId xmlns:a16="http://schemas.microsoft.com/office/drawing/2014/main" val="3208052000"/>
                  </a:ext>
                </a:extLst>
              </a:tr>
              <a:tr h="961742">
                <a:tc>
                  <a:txBody>
                    <a:bodyPr/>
                    <a:lstStyle/>
                    <a:p>
                      <a:r>
                        <a:rPr lang="en-IN" sz="1600" b="1" dirty="0">
                          <a:latin typeface="Times New Roman" panose="02020603050405020304" pitchFamily="18" charset="0"/>
                          <a:cs typeface="Times New Roman" panose="02020603050405020304" pitchFamily="18" charset="0"/>
                        </a:rPr>
                        <a:t>Frontend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Provides the user-facing interface for monitoring the manufacturing process, displaying process parameters, defect-risk alerts, probable causes, simulation results, and corrective-action recommendations.</a:t>
                      </a:r>
                    </a:p>
                  </a:txBody>
                  <a:tcPr marL="39356" marR="39356" marT="19678" marB="19678" anchor="ctr">
                    <a:lnL>
                      <a:noFill/>
                    </a:lnL>
                    <a:lnR>
                      <a:noFill/>
                    </a:lnR>
                    <a:lnT>
                      <a:noFill/>
                    </a:lnT>
                    <a:lnB>
                      <a:noFill/>
                    </a:lnB>
                  </a:tcPr>
                </a:tc>
                <a:extLst>
                  <a:ext uri="{0D108BD9-81ED-4DB2-BD59-A6C34878D82A}">
                    <a16:rowId xmlns:a16="http://schemas.microsoft.com/office/drawing/2014/main" val="2259906588"/>
                  </a:ext>
                </a:extLst>
              </a:tr>
              <a:tr h="961742">
                <a:tc>
                  <a:txBody>
                    <a:bodyPr/>
                    <a:lstStyle/>
                    <a:p>
                      <a:r>
                        <a:rPr lang="en-IN" sz="1600" b="1" dirty="0">
                          <a:latin typeface="Times New Roman" panose="02020603050405020304" pitchFamily="18" charset="0"/>
                          <a:cs typeface="Times New Roman" panose="02020603050405020304" pitchFamily="18" charset="0"/>
                        </a:rPr>
                        <a:t>Backend</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Acts as the integration layer between the frontend and computational services. It receives process data through APIs, validates and normalizes the input, invokes required services, and returns structured responses.</a:t>
                      </a:r>
                    </a:p>
                  </a:txBody>
                  <a:tcPr marL="39356" marR="39356" marT="19678" marB="19678" anchor="ctr">
                    <a:lnL>
                      <a:noFill/>
                    </a:lnL>
                    <a:lnR>
                      <a:noFill/>
                    </a:lnR>
                    <a:lnT>
                      <a:noFill/>
                    </a:lnT>
                    <a:lnB>
                      <a:noFill/>
                    </a:lnB>
                  </a:tcPr>
                </a:tc>
                <a:extLst>
                  <a:ext uri="{0D108BD9-81ED-4DB2-BD59-A6C34878D82A}">
                    <a16:rowId xmlns:a16="http://schemas.microsoft.com/office/drawing/2014/main" val="3908223034"/>
                  </a:ext>
                </a:extLst>
              </a:tr>
              <a:tr h="961742">
                <a:tc>
                  <a:txBody>
                    <a:bodyPr/>
                    <a:lstStyle/>
                    <a:p>
                      <a:r>
                        <a:rPr lang="en-IN" sz="1600" b="1">
                          <a:latin typeface="Times New Roman" panose="02020603050405020304" pitchFamily="18" charset="0"/>
                          <a:cs typeface="Times New Roman" panose="02020603050405020304" pitchFamily="18" charset="0"/>
                        </a:rPr>
                        <a:t>ML Inference</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Processes the supplied manufacturing parameters and applies the trained ML model to estimate defect probability, classify the potential defect, and provide the associated confidence or risk level.</a:t>
                      </a:r>
                    </a:p>
                  </a:txBody>
                  <a:tcPr marL="39356" marR="39356" marT="19678" marB="19678" anchor="ctr">
                    <a:lnL>
                      <a:noFill/>
                    </a:lnL>
                    <a:lnR>
                      <a:noFill/>
                    </a:lnR>
                    <a:lnT>
                      <a:noFill/>
                    </a:lnT>
                    <a:lnB>
                      <a:noFill/>
                    </a:lnB>
                  </a:tcPr>
                </a:tc>
                <a:extLst>
                  <a:ext uri="{0D108BD9-81ED-4DB2-BD59-A6C34878D82A}">
                    <a16:rowId xmlns:a16="http://schemas.microsoft.com/office/drawing/2014/main" val="902864539"/>
                  </a:ext>
                </a:extLst>
              </a:tr>
              <a:tr h="961742">
                <a:tc>
                  <a:txBody>
                    <a:bodyPr/>
                    <a:lstStyle/>
                    <a:p>
                      <a:r>
                        <a:rPr lang="en-IN" sz="1600" b="1">
                          <a:latin typeface="Times New Roman" panose="02020603050405020304" pitchFamily="18" charset="0"/>
                          <a:cs typeface="Times New Roman" panose="02020603050405020304" pitchFamily="18" charset="0"/>
                        </a:rPr>
                        <a:t>Digital Twin</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Maintains a virtual representation of the manufacturing process and its current state. It updates the virtual state using process data and supports what-if simulation for evaluating alternative process conditions.</a:t>
                      </a:r>
                    </a:p>
                  </a:txBody>
                  <a:tcPr marL="39356" marR="39356" marT="19678" marB="19678" anchor="ctr">
                    <a:lnL>
                      <a:noFill/>
                    </a:lnL>
                    <a:lnR>
                      <a:noFill/>
                    </a:lnR>
                    <a:lnT>
                      <a:noFill/>
                    </a:lnT>
                    <a:lnB>
                      <a:noFill/>
                    </a:lnB>
                  </a:tcPr>
                </a:tc>
                <a:extLst>
                  <a:ext uri="{0D108BD9-81ED-4DB2-BD59-A6C34878D82A}">
                    <a16:rowId xmlns:a16="http://schemas.microsoft.com/office/drawing/2014/main" val="2098149679"/>
                  </a:ext>
                </a:extLst>
              </a:tr>
              <a:tr h="961742">
                <a:tc>
                  <a:txBody>
                    <a:bodyPr/>
                    <a:lstStyle/>
                    <a:p>
                      <a:r>
                        <a:rPr lang="en-IN" sz="1600" b="1">
                          <a:latin typeface="Times New Roman" panose="02020603050405020304" pitchFamily="18" charset="0"/>
                          <a:cs typeface="Times New Roman" panose="02020603050405020304" pitchFamily="18" charset="0"/>
                        </a:rPr>
                        <a:t>Agentic Layer</a:t>
                      </a:r>
                      <a:endParaRPr lang="en-IN" sz="160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a:latin typeface="Times New Roman" panose="02020603050405020304" pitchFamily="18" charset="0"/>
                          <a:cs typeface="Times New Roman" panose="02020603050405020304" pitchFamily="18" charset="0"/>
                        </a:rPr>
                        <a:t>Provides task-oriented reasoning over prediction and simulation outputs. It analyses probable defect causes, evaluates candidate corrective actions, compares their expected outcomes, and generates a recommendation.</a:t>
                      </a:r>
                    </a:p>
                  </a:txBody>
                  <a:tcPr marL="39356" marR="39356" marT="19678" marB="19678" anchor="ctr">
                    <a:lnL>
                      <a:noFill/>
                    </a:lnL>
                    <a:lnR>
                      <a:noFill/>
                    </a:lnR>
                    <a:lnT>
                      <a:noFill/>
                    </a:lnT>
                    <a:lnB>
                      <a:noFill/>
                    </a:lnB>
                  </a:tcPr>
                </a:tc>
                <a:extLst>
                  <a:ext uri="{0D108BD9-81ED-4DB2-BD59-A6C34878D82A}">
                    <a16:rowId xmlns:a16="http://schemas.microsoft.com/office/drawing/2014/main" val="803289282"/>
                  </a:ext>
                </a:extLst>
              </a:tr>
              <a:tr h="961742">
                <a:tc>
                  <a:txBody>
                    <a:bodyPr/>
                    <a:lstStyle/>
                    <a:p>
                      <a:r>
                        <a:rPr lang="en-IN" sz="1600" b="1" dirty="0">
                          <a:latin typeface="Times New Roman" panose="02020603050405020304" pitchFamily="18" charset="0"/>
                          <a:cs typeface="Times New Roman" panose="02020603050405020304" pitchFamily="18" charset="0"/>
                        </a:rPr>
                        <a:t>Integration</a:t>
                      </a:r>
                      <a:endParaRPr lang="en-IN" sz="1600" dirty="0">
                        <a:latin typeface="Times New Roman" panose="02020603050405020304" pitchFamily="18" charset="0"/>
                        <a:cs typeface="Times New Roman" panose="02020603050405020304" pitchFamily="18" charset="0"/>
                      </a:endParaRPr>
                    </a:p>
                  </a:txBody>
                  <a:tcPr marL="39356" marR="39356" marT="19678" marB="19678" anchor="ctr">
                    <a:lnL>
                      <a:noFill/>
                    </a:lnL>
                    <a:lnR>
                      <a:noFill/>
                    </a:lnR>
                    <a:lnT>
                      <a:noFill/>
                    </a:lnT>
                    <a:lnB>
                      <a:noFill/>
                    </a:lnB>
                  </a:tcPr>
                </a:tc>
                <a:tc>
                  <a:txBody>
                    <a:bodyPr/>
                    <a:lstStyle/>
                    <a:p>
                      <a:r>
                        <a:rPr lang="en-US" sz="1600" dirty="0">
                          <a:latin typeface="Times New Roman" panose="02020603050405020304" pitchFamily="18" charset="0"/>
                          <a:cs typeface="Times New Roman" panose="02020603050405020304" pitchFamily="18" charset="0"/>
                        </a:rPr>
                        <a:t>Demonstrates the complete end-to-end workflow in which process data flows from the frontend through the backend, ML inference, Digital Twin and agentic reasoning layers, with the final result returned to the dashboard.</a:t>
                      </a:r>
                    </a:p>
                  </a:txBody>
                  <a:tcPr marL="39356" marR="39356" marT="19678" marB="19678" anchor="ctr">
                    <a:lnL>
                      <a:noFill/>
                    </a:lnL>
                    <a:lnR>
                      <a:noFill/>
                    </a:lnR>
                    <a:lnT>
                      <a:noFill/>
                    </a:lnT>
                    <a:lnB>
                      <a:noFill/>
                    </a:lnB>
                  </a:tcPr>
                </a:tc>
                <a:extLst>
                  <a:ext uri="{0D108BD9-81ED-4DB2-BD59-A6C34878D82A}">
                    <a16:rowId xmlns:a16="http://schemas.microsoft.com/office/drawing/2014/main" val="21909699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2750636"/>
            <a:ext cx="10789920" cy="594360"/>
          </a:xfrm>
          <a:prstGeom prst="rect">
            <a:avLst/>
          </a:prstGeom>
          <a:noFill/>
        </p:spPr>
        <p:txBody>
          <a:bodyPr wrap="square" lIns="36576" tIns="18288" rIns="36576" bIns="18288">
            <a:spAutoFit/>
          </a:bodyPr>
          <a:lstStyle/>
          <a:p>
            <a:pPr algn="ctr"/>
            <a:r>
              <a:rPr sz="3400" b="1" dirty="0">
                <a:solidFill>
                  <a:srgbClr val="1F4E79"/>
                </a:solidFill>
                <a:latin typeface="Arial"/>
              </a:rPr>
              <a:t>THANK YOU</a:t>
            </a:r>
          </a:p>
        </p:txBody>
      </p:sp>
      <p:sp>
        <p:nvSpPr>
          <p:cNvPr id="6" name="Rectangle 5"/>
          <p:cNvSpPr/>
          <p:nvPr/>
        </p:nvSpPr>
        <p:spPr>
          <a:xfrm>
            <a:off x="502920" y="6419088"/>
            <a:ext cx="11155680" cy="10972"/>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0" y="6446520"/>
            <a:ext cx="457200" cy="201168"/>
          </a:xfrm>
          <a:prstGeom prst="rect">
            <a:avLst/>
          </a:prstGeom>
          <a:noFill/>
        </p:spPr>
        <p:txBody>
          <a:bodyPr wrap="none">
            <a:spAutoFit/>
          </a:bodyPr>
          <a:lstStyle/>
          <a:p>
            <a:pPr algn="r"/>
            <a:r>
              <a:rPr sz="900">
                <a:solidFill>
                  <a:srgbClr val="646464"/>
                </a:solidFill>
                <a:latin typeface="Arial"/>
              </a:rPr>
              <a:t>18</a:t>
            </a:r>
          </a:p>
        </p:txBody>
      </p:sp>
      <p:pic>
        <p:nvPicPr>
          <p:cNvPr id="9" name="Picture 8"/>
          <p:cNvPicPr>
            <a:picLocks noChangeAspect="1"/>
          </p:cNvPicPr>
          <p:nvPr/>
        </p:nvPicPr>
        <p:blipFill>
          <a:blip r:embed="rId2"/>
          <a:stretch>
            <a:fillRect/>
          </a:stretch>
        </p:blipFill>
        <p:spPr>
          <a:xfrm>
            <a:off x="10543945" y="89612"/>
            <a:ext cx="1648055" cy="762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2350</Words>
  <Application>Microsoft Office PowerPoint</Application>
  <PresentationFormat>Widescreen</PresentationFormat>
  <Paragraphs>257</Paragraphs>
  <Slides>16</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Calibri</vt:lpstr>
      <vt:lpstr>Times New Roman</vt:lpstr>
      <vt:lpstr>Office Theme</vt:lpstr>
      <vt:lpstr>1_Office Theme</vt:lpstr>
      <vt:lpstr>PowerPoint Presentation</vt:lpstr>
      <vt:lpstr>Outline of Research 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Sahasra</dc:creator>
  <cp:keywords/>
  <dc:description>generated using python-pptx</dc:description>
  <cp:lastModifiedBy>Sushmita S</cp:lastModifiedBy>
  <cp:revision>30</cp:revision>
  <dcterms:created xsi:type="dcterms:W3CDTF">2013-01-27T09:14:16Z</dcterms:created>
  <dcterms:modified xsi:type="dcterms:W3CDTF">2026-10-01T03:54:15Z</dcterms:modified>
  <cp:category/>
</cp:coreProperties>
</file>